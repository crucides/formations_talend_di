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3" d="100"/>
          <a:sy n="183" d="100"/>
        </p:scale>
        <p:origin x="15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30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fr-FR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1207008" y="182880"/>
            <a:ext cx="36576" cy="594360"/>
          </a:xfrm>
          <a:prstGeom prst="rect">
            <a:avLst/>
          </a:prstGeom>
          <a:solidFill>
            <a:srgbClr val="F0F6FA">
              <a:alpha val="6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la présentation</a:t>
            </a:r>
            <a:endParaRPr lang="fr-FR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l'issue de cette formation, vous serez capable de :</a:t>
            </a:r>
            <a:endParaRPr lang="fr-F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292608" y="1627632"/>
            <a:ext cx="2724912" cy="315468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292608" y="1627632"/>
            <a:ext cx="2724912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237551" y="1764792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30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fr-FR" sz="3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243230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ce qu'est un outil ETL</a:t>
            </a:r>
            <a:endParaRPr lang="fr-FR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411480" cy="36576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3328416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principes fondamentaux de l'</a:t>
            </a:r>
            <a:r>
              <a:rPr lang="fr-FR" sz="1050" noProof="0" dirty="0" err="1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050" noProof="0" dirty="0" err="1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fr-FR" sz="1050" noProof="0" dirty="0" err="1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identifier dans quels contextes ces outils sont utilisés.</a:t>
            </a:r>
            <a:endParaRPr lang="fr-F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3172968" y="1627632"/>
            <a:ext cx="2724912" cy="315468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3172968" y="1627632"/>
            <a:ext cx="2724912" cy="6400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333756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19" name="Text 17"/>
          <p:cNvSpPr/>
          <p:nvPr/>
        </p:nvSpPr>
        <p:spPr>
          <a:xfrm>
            <a:off x="3131558" y="1764792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300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3000" noProof="0" dirty="0"/>
          </a:p>
        </p:txBody>
      </p:sp>
      <p:sp>
        <p:nvSpPr>
          <p:cNvPr id="20" name="Text 18"/>
          <p:cNvSpPr/>
          <p:nvPr/>
        </p:nvSpPr>
        <p:spPr>
          <a:xfrm>
            <a:off x="3337560" y="243230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Talend et ses fonctionnalités</a:t>
            </a:r>
            <a:endParaRPr lang="fr-FR" sz="1300" noProof="0" dirty="0"/>
          </a:p>
        </p:txBody>
      </p:sp>
      <p:sp>
        <p:nvSpPr>
          <p:cNvPr id="21" name="Shape 19"/>
          <p:cNvSpPr/>
          <p:nvPr/>
        </p:nvSpPr>
        <p:spPr>
          <a:xfrm>
            <a:off x="3337560" y="3182112"/>
            <a:ext cx="411480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3337560" y="3328416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la suite de produits Talend, ses composants clés et ses capacités d'intégration de données en environnement entreprise.</a:t>
            </a:r>
            <a:endParaRPr lang="fr-FR" sz="1050" noProof="0" dirty="0"/>
          </a:p>
        </p:txBody>
      </p:sp>
      <p:sp>
        <p:nvSpPr>
          <p:cNvPr id="23" name="Shape 21"/>
          <p:cNvSpPr/>
          <p:nvPr/>
        </p:nvSpPr>
        <p:spPr>
          <a:xfrm>
            <a:off x="6053328" y="1627632"/>
            <a:ext cx="2724912" cy="315468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2"/>
          <p:cNvSpPr/>
          <p:nvPr/>
        </p:nvSpPr>
        <p:spPr>
          <a:xfrm>
            <a:off x="6053328" y="1627632"/>
            <a:ext cx="272491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6217920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800" noProof="0" dirty="0"/>
          </a:p>
        </p:txBody>
      </p:sp>
      <p:sp>
        <p:nvSpPr>
          <p:cNvPr id="27" name="Text 25"/>
          <p:cNvSpPr/>
          <p:nvPr/>
        </p:nvSpPr>
        <p:spPr>
          <a:xfrm>
            <a:off x="5989176" y="1764792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30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3000" noProof="0" dirty="0"/>
          </a:p>
        </p:txBody>
      </p:sp>
      <p:sp>
        <p:nvSpPr>
          <p:cNvPr id="28" name="Text 26"/>
          <p:cNvSpPr/>
          <p:nvPr/>
        </p:nvSpPr>
        <p:spPr>
          <a:xfrm>
            <a:off x="6217920" y="243230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les concepts fondamentaux</a:t>
            </a:r>
            <a:endParaRPr lang="fr-FR" sz="1300" noProof="0" dirty="0"/>
          </a:p>
        </p:txBody>
      </p:sp>
      <p:sp>
        <p:nvSpPr>
          <p:cNvPr id="29" name="Shape 27"/>
          <p:cNvSpPr/>
          <p:nvPr/>
        </p:nvSpPr>
        <p:spPr>
          <a:xfrm>
            <a:off x="6217920" y="3182112"/>
            <a:ext cx="411480" cy="3657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6217920" y="3328416"/>
            <a:ext cx="239572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notions de Jobs, composants, connecteurs, transformations et flux de données au sein de Talend.</a:t>
            </a:r>
            <a:endParaRPr lang="fr-FR" sz="10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1207008" y="182880"/>
            <a:ext cx="36576" cy="5943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l'intégration de données ?</a:t>
            </a:r>
            <a:endParaRPr lang="fr-FR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L'intégration de données consiste à :</a:t>
            </a:r>
            <a:endParaRPr lang="fr-F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594360" y="2231136"/>
            <a:ext cx="36576" cy="164592"/>
          </a:xfrm>
          <a:prstGeom prst="rect">
            <a:avLst/>
          </a:prstGeom>
          <a:solidFill>
            <a:srgbClr val="00C9B1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4663440" cy="685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73152" cy="68580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161848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fr-FR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1143000" y="1636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les données</a:t>
            </a:r>
            <a:endParaRPr lang="fr-F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114300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des sources hétérogènes : bases de données, fichiers, APIs, applications…</a:t>
            </a:r>
            <a:endParaRPr lang="fr-FR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594360" y="3054096"/>
            <a:ext cx="36576" cy="164592"/>
          </a:xfrm>
          <a:prstGeom prst="rect">
            <a:avLst/>
          </a:prstGeom>
          <a:solidFill>
            <a:srgbClr val="1A73E8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411480" y="2395728"/>
            <a:ext cx="4663440" cy="685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411480" y="2395728"/>
            <a:ext cx="73152" cy="6858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244144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fr-FR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143000" y="24597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transformer</a:t>
            </a:r>
            <a:endParaRPr lang="fr-F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1143000" y="2743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Nettoyer, harmoniser, enrichir et restructurer selon les règles métier.</a:t>
            </a:r>
            <a:endParaRPr lang="fr-FR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594360" y="3877056"/>
            <a:ext cx="36576" cy="164592"/>
          </a:xfrm>
          <a:prstGeom prst="rect">
            <a:avLst/>
          </a:prstGeom>
          <a:solidFill>
            <a:srgbClr val="FFD166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4663440" cy="685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411480" y="3218688"/>
            <a:ext cx="73152" cy="6858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548640" y="326440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fr-FR" sz="2000" noProof="0" dirty="0"/>
          </a:p>
        </p:txBody>
      </p:sp>
      <p:sp>
        <p:nvSpPr>
          <p:cNvPr id="23" name="Text 21"/>
          <p:cNvSpPr/>
          <p:nvPr/>
        </p:nvSpPr>
        <p:spPr>
          <a:xfrm>
            <a:off x="1143000" y="32826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centraliser</a:t>
            </a:r>
            <a:endParaRPr lang="fr-FR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114300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dans un référentiel unique : entrepôt de données, data lake, etc.</a:t>
            </a:r>
            <a:endParaRPr lang="fr-FR" sz="1000" noProof="0" dirty="0"/>
          </a:p>
        </p:txBody>
      </p:sp>
      <p:sp>
        <p:nvSpPr>
          <p:cNvPr id="25" name="Shape 23"/>
          <p:cNvSpPr/>
          <p:nvPr/>
        </p:nvSpPr>
        <p:spPr>
          <a:xfrm>
            <a:off x="411480" y="4041648"/>
            <a:ext cx="4663440" cy="685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411480" y="4041648"/>
            <a:ext cx="73152" cy="6858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548640" y="40873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fr-FR" sz="2000" noProof="0" dirty="0"/>
          </a:p>
        </p:txBody>
      </p:sp>
      <p:sp>
        <p:nvSpPr>
          <p:cNvPr id="28" name="Text 26"/>
          <p:cNvSpPr/>
          <p:nvPr/>
        </p:nvSpPr>
        <p:spPr>
          <a:xfrm>
            <a:off x="1143000" y="4105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rendre exploitables</a:t>
            </a:r>
            <a:endParaRPr lang="fr-FR" sz="1300" noProof="0" dirty="0"/>
          </a:p>
        </p:txBody>
      </p:sp>
      <p:sp>
        <p:nvSpPr>
          <p:cNvPr id="29" name="Text 27"/>
          <p:cNvSpPr/>
          <p:nvPr/>
        </p:nvSpPr>
        <p:spPr>
          <a:xfrm>
            <a:off x="1143000" y="4389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disposition des équipes métier, BI et analytiques.</a:t>
            </a:r>
            <a:endParaRPr lang="fr-FR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5486400" y="1097280"/>
            <a:ext cx="3383280" cy="374904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5486400" y="1097280"/>
            <a:ext cx="338328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5650992" y="121615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pour :</a:t>
            </a:r>
            <a:endParaRPr lang="fr-FR" sz="1400" noProof="0" dirty="0"/>
          </a:p>
        </p:txBody>
      </p:sp>
      <p:sp>
        <p:nvSpPr>
          <p:cNvPr id="33" name="Shape 31"/>
          <p:cNvSpPr/>
          <p:nvPr/>
        </p:nvSpPr>
        <p:spPr>
          <a:xfrm>
            <a:off x="5650992" y="1691640"/>
            <a:ext cx="3063240" cy="914400"/>
          </a:xfrm>
          <a:prstGeom prst="rect">
            <a:avLst/>
          </a:prstGeom>
          <a:solidFill>
            <a:srgbClr val="D8E7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2"/>
          <p:cNvSpPr/>
          <p:nvPr/>
        </p:nvSpPr>
        <p:spPr>
          <a:xfrm>
            <a:off x="5650992" y="1691640"/>
            <a:ext cx="64008" cy="9144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5806440" y="176479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— Business Intelligence</a:t>
            </a:r>
            <a:endParaRPr lang="fr-FR" sz="1200" noProof="0" dirty="0"/>
          </a:p>
        </p:txBody>
      </p:sp>
      <p:sp>
        <p:nvSpPr>
          <p:cNvPr id="36" name="Text 34"/>
          <p:cNvSpPr/>
          <p:nvPr/>
        </p:nvSpPr>
        <p:spPr>
          <a:xfrm>
            <a:off x="5806440" y="20574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Alimenter les outils de reporting et de visualisation (Power BI, Tableau, MicroStrategy…) avec des données fiables et consolidées.</a:t>
            </a:r>
            <a:endParaRPr lang="fr-FR" sz="1000" noProof="0" dirty="0"/>
          </a:p>
        </p:txBody>
      </p:sp>
      <p:sp>
        <p:nvSpPr>
          <p:cNvPr id="37" name="Shape 35"/>
          <p:cNvSpPr/>
          <p:nvPr/>
        </p:nvSpPr>
        <p:spPr>
          <a:xfrm>
            <a:off x="5650992" y="2715768"/>
            <a:ext cx="3063240" cy="914400"/>
          </a:xfrm>
          <a:prstGeom prst="rect">
            <a:avLst/>
          </a:prstGeom>
          <a:solidFill>
            <a:srgbClr val="D8E7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6"/>
          <p:cNvSpPr/>
          <p:nvPr/>
        </p:nvSpPr>
        <p:spPr>
          <a:xfrm>
            <a:off x="5650992" y="2715768"/>
            <a:ext cx="64008" cy="9144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5806440" y="278892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fr-FR" sz="1200" noProof="0" dirty="0"/>
          </a:p>
        </p:txBody>
      </p:sp>
      <p:sp>
        <p:nvSpPr>
          <p:cNvPr id="40" name="Text 38"/>
          <p:cNvSpPr/>
          <p:nvPr/>
        </p:nvSpPr>
        <p:spPr>
          <a:xfrm>
            <a:off x="5806440" y="308152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et historiser les données dans un entrepôt centralisé (Snowflake, Redshift, BigQuery…) pour l'analyse à grande échelle.</a:t>
            </a:r>
            <a:endParaRPr lang="fr-FR" sz="1000" noProof="0" dirty="0"/>
          </a:p>
        </p:txBody>
      </p:sp>
      <p:sp>
        <p:nvSpPr>
          <p:cNvPr id="41" name="Shape 39"/>
          <p:cNvSpPr/>
          <p:nvPr/>
        </p:nvSpPr>
        <p:spPr>
          <a:xfrm>
            <a:off x="5650992" y="3739896"/>
            <a:ext cx="3063240" cy="914400"/>
          </a:xfrm>
          <a:prstGeom prst="rect">
            <a:avLst/>
          </a:prstGeom>
          <a:solidFill>
            <a:srgbClr val="D8E7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40"/>
          <p:cNvSpPr/>
          <p:nvPr/>
        </p:nvSpPr>
        <p:spPr>
          <a:xfrm>
            <a:off x="5650992" y="3739896"/>
            <a:ext cx="64008" cy="914400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41"/>
          <p:cNvSpPr/>
          <p:nvPr/>
        </p:nvSpPr>
        <p:spPr>
          <a:xfrm>
            <a:off x="5806440" y="381304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Data Science</a:t>
            </a:r>
            <a:endParaRPr lang="fr-FR" sz="1200" noProof="0" dirty="0"/>
          </a:p>
        </p:txBody>
      </p:sp>
      <p:sp>
        <p:nvSpPr>
          <p:cNvPr id="44" name="Text 42"/>
          <p:cNvSpPr/>
          <p:nvPr/>
        </p:nvSpPr>
        <p:spPr>
          <a:xfrm>
            <a:off x="5806440" y="4105656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des jeux de données propres et structurés pour les équipes data, les modèles ML et les tableaux de bord analytiques.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1207008" y="182880"/>
            <a:ext cx="36576" cy="5943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 ETL</a:t>
            </a:r>
            <a:endParaRPr lang="fr-FR" sz="26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651760" cy="1280160"/>
          </a:xfrm>
          <a:prstGeom prst="rect">
            <a:avLst/>
          </a:prstGeom>
          <a:solidFill>
            <a:srgbClr val="00C9B1">
              <a:alpha val="18000"/>
            </a:srgbClr>
          </a:solidFill>
          <a:ln w="190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2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fr-FR" sz="6200" noProof="0" dirty="0"/>
          </a:p>
        </p:txBody>
      </p:sp>
      <p:sp>
        <p:nvSpPr>
          <p:cNvPr id="8" name="Shape 6"/>
          <p:cNvSpPr/>
          <p:nvPr/>
        </p:nvSpPr>
        <p:spPr>
          <a:xfrm>
            <a:off x="1280160" y="1024128"/>
            <a:ext cx="36576" cy="1280160"/>
          </a:xfrm>
          <a:prstGeom prst="rect">
            <a:avLst/>
          </a:prstGeom>
          <a:solidFill>
            <a:srgbClr val="00C9B1">
              <a:alpha val="3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1371600" y="11338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fr-FR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1371600" y="15910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des données</a:t>
            </a:r>
            <a:endParaRPr lang="fr-FR" sz="1050" noProof="0" dirty="0"/>
          </a:p>
        </p:txBody>
      </p:sp>
      <p:sp>
        <p:nvSpPr>
          <p:cNvPr id="11" name="Shape 9"/>
          <p:cNvSpPr/>
          <p:nvPr/>
        </p:nvSpPr>
        <p:spPr>
          <a:xfrm>
            <a:off x="2926080" y="1664208"/>
            <a:ext cx="210312" cy="0"/>
          </a:xfrm>
          <a:prstGeom prst="line">
            <a:avLst/>
          </a:prstGeom>
          <a:noFill/>
          <a:ln w="19050">
            <a:solidFill>
              <a:srgbClr val="8BAFC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017520" y="152704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fr-F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3136392" y="1024128"/>
            <a:ext cx="2651760" cy="1280160"/>
          </a:xfrm>
          <a:prstGeom prst="rect">
            <a:avLst/>
          </a:prstGeom>
          <a:solidFill>
            <a:srgbClr val="FFD166">
              <a:alpha val="18000"/>
            </a:srgbClr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3136392" y="1024128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2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fr-FR" sz="6200" noProof="0" dirty="0"/>
          </a:p>
        </p:txBody>
      </p:sp>
      <p:sp>
        <p:nvSpPr>
          <p:cNvPr id="15" name="Shape 13"/>
          <p:cNvSpPr/>
          <p:nvPr/>
        </p:nvSpPr>
        <p:spPr>
          <a:xfrm>
            <a:off x="4142232" y="1024128"/>
            <a:ext cx="36576" cy="128016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233672" y="11338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fr-FR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4233672" y="15910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&amp; transformation</a:t>
            </a:r>
            <a:endParaRPr lang="fr-FR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5788152" y="1664208"/>
            <a:ext cx="210312" cy="0"/>
          </a:xfrm>
          <a:prstGeom prst="line">
            <a:avLst/>
          </a:prstGeom>
          <a:noFill/>
          <a:ln w="19050">
            <a:solidFill>
              <a:srgbClr val="8BAFC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5879592" y="1527048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fr-F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5998464" y="1024128"/>
            <a:ext cx="2651760" cy="1280160"/>
          </a:xfrm>
          <a:prstGeom prst="rect">
            <a:avLst/>
          </a:prstGeom>
          <a:solidFill>
            <a:srgbClr val="F4845F">
              <a:alpha val="18000"/>
            </a:srgbClr>
          </a:solidFill>
          <a:ln w="1905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5998464" y="1024128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620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fr-FR" sz="6200" noProof="0" dirty="0"/>
          </a:p>
        </p:txBody>
      </p:sp>
      <p:sp>
        <p:nvSpPr>
          <p:cNvPr id="22" name="Shape 20"/>
          <p:cNvSpPr/>
          <p:nvPr/>
        </p:nvSpPr>
        <p:spPr>
          <a:xfrm>
            <a:off x="7004304" y="1024128"/>
            <a:ext cx="36576" cy="1280160"/>
          </a:xfrm>
          <a:prstGeom prst="rect">
            <a:avLst/>
          </a:prstGeom>
          <a:solidFill>
            <a:srgbClr val="F4845F">
              <a:alpha val="3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7095744" y="11338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fr-FR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7095744" y="15910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vers la destination</a:t>
            </a:r>
            <a:endParaRPr lang="fr-FR" sz="1050" noProof="0" dirty="0"/>
          </a:p>
        </p:txBody>
      </p:sp>
      <p:sp>
        <p:nvSpPr>
          <p:cNvPr id="25" name="Shape 23"/>
          <p:cNvSpPr/>
          <p:nvPr/>
        </p:nvSpPr>
        <p:spPr>
          <a:xfrm>
            <a:off x="274320" y="2423160"/>
            <a:ext cx="2651760" cy="804672"/>
          </a:xfrm>
          <a:prstGeom prst="rect">
            <a:avLst/>
          </a:prstGeom>
          <a:solidFill>
            <a:srgbClr val="E4EDF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274320" y="2423160"/>
            <a:ext cx="265176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411480" y="250545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aux sources : bases de données, fichiers CSV/Excel, APIs REST, ERP, CRM…</a:t>
            </a:r>
            <a:endParaRPr lang="fr-FR" sz="1000" noProof="0" dirty="0"/>
          </a:p>
        </p:txBody>
      </p:sp>
      <p:sp>
        <p:nvSpPr>
          <p:cNvPr id="28" name="Shape 26"/>
          <p:cNvSpPr/>
          <p:nvPr/>
        </p:nvSpPr>
        <p:spPr>
          <a:xfrm>
            <a:off x="3136392" y="2423160"/>
            <a:ext cx="2651760" cy="804672"/>
          </a:xfrm>
          <a:prstGeom prst="rect">
            <a:avLst/>
          </a:prstGeom>
          <a:solidFill>
            <a:srgbClr val="E4EDF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7"/>
          <p:cNvSpPr/>
          <p:nvPr/>
        </p:nvSpPr>
        <p:spPr>
          <a:xfrm>
            <a:off x="3136392" y="2423160"/>
            <a:ext cx="265176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3273552" y="250545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Filtrage, déduplication, conversion de types, jointures, agrégations, enrichissement.</a:t>
            </a:r>
            <a:endParaRPr lang="fr-FR" sz="1000" noProof="0" dirty="0"/>
          </a:p>
        </p:txBody>
      </p:sp>
      <p:sp>
        <p:nvSpPr>
          <p:cNvPr id="31" name="Shape 29"/>
          <p:cNvSpPr/>
          <p:nvPr/>
        </p:nvSpPr>
        <p:spPr>
          <a:xfrm>
            <a:off x="5998464" y="2423160"/>
            <a:ext cx="2651760" cy="804672"/>
          </a:xfrm>
          <a:prstGeom prst="rect">
            <a:avLst/>
          </a:prstGeom>
          <a:solidFill>
            <a:srgbClr val="E4EDF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5998464" y="2423160"/>
            <a:ext cx="2651760" cy="54864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6135624" y="2505456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dans la cible : Data Warehouse, base de données, fichier, API, data lake.</a:t>
            </a:r>
            <a:endParaRPr lang="fr-FR" sz="1000" noProof="0" dirty="0"/>
          </a:p>
        </p:txBody>
      </p:sp>
      <p:sp>
        <p:nvSpPr>
          <p:cNvPr id="34" name="Text 32"/>
          <p:cNvSpPr/>
          <p:nvPr/>
        </p:nvSpPr>
        <p:spPr>
          <a:xfrm>
            <a:off x="411480" y="3364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d'utilisation ETL</a:t>
            </a:r>
            <a:endParaRPr lang="fr-FR" sz="1400" noProof="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2029968" cy="105156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274320" y="3794760"/>
            <a:ext cx="2029968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365760" y="38587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🔀</a:t>
            </a:r>
            <a:endParaRPr lang="fr-FR" sz="1800" noProof="0" dirty="0"/>
          </a:p>
        </p:txBody>
      </p:sp>
      <p:sp>
        <p:nvSpPr>
          <p:cNvPr id="38" name="Text 36"/>
          <p:cNvSpPr/>
          <p:nvPr/>
        </p:nvSpPr>
        <p:spPr>
          <a:xfrm>
            <a:off x="841248" y="3858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 données</a:t>
            </a:r>
            <a:endParaRPr lang="fr-FR" sz="1100" noProof="0" dirty="0"/>
          </a:p>
        </p:txBody>
      </p:sp>
      <p:sp>
        <p:nvSpPr>
          <p:cNvPr id="39" name="Text 37"/>
          <p:cNvSpPr/>
          <p:nvPr/>
        </p:nvSpPr>
        <p:spPr>
          <a:xfrm>
            <a:off x="365760" y="42519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depuis un ancien système vers un nouveau.</a:t>
            </a:r>
            <a:endParaRPr lang="fr-FR" sz="950" noProof="0" dirty="0"/>
          </a:p>
        </p:txBody>
      </p:sp>
      <p:sp>
        <p:nvSpPr>
          <p:cNvPr id="40" name="Shape 38"/>
          <p:cNvSpPr/>
          <p:nvPr/>
        </p:nvSpPr>
        <p:spPr>
          <a:xfrm>
            <a:off x="2450592" y="3794760"/>
            <a:ext cx="2029968" cy="105156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39"/>
          <p:cNvSpPr/>
          <p:nvPr/>
        </p:nvSpPr>
        <p:spPr>
          <a:xfrm>
            <a:off x="2450592" y="3794760"/>
            <a:ext cx="2029968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40"/>
          <p:cNvSpPr/>
          <p:nvPr/>
        </p:nvSpPr>
        <p:spPr>
          <a:xfrm>
            <a:off x="2542032" y="38587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fr-FR" sz="1800" noProof="0" dirty="0"/>
          </a:p>
        </p:txBody>
      </p:sp>
      <p:sp>
        <p:nvSpPr>
          <p:cNvPr id="43" name="Text 41"/>
          <p:cNvSpPr/>
          <p:nvPr/>
        </p:nvSpPr>
        <p:spPr>
          <a:xfrm>
            <a:off x="3017520" y="3858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de systèmes</a:t>
            </a:r>
            <a:endParaRPr lang="fr-FR" sz="1100" noProof="0" dirty="0"/>
          </a:p>
        </p:txBody>
      </p:sp>
      <p:sp>
        <p:nvSpPr>
          <p:cNvPr id="44" name="Text 42"/>
          <p:cNvSpPr/>
          <p:nvPr/>
        </p:nvSpPr>
        <p:spPr>
          <a:xfrm>
            <a:off x="2542032" y="42519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la cohérence entre plusieurs applications.</a:t>
            </a:r>
            <a:endParaRPr lang="fr-FR" sz="950" noProof="0" dirty="0"/>
          </a:p>
        </p:txBody>
      </p:sp>
      <p:sp>
        <p:nvSpPr>
          <p:cNvPr id="45" name="Shape 43"/>
          <p:cNvSpPr/>
          <p:nvPr/>
        </p:nvSpPr>
        <p:spPr>
          <a:xfrm>
            <a:off x="4626864" y="3794760"/>
            <a:ext cx="2029968" cy="105156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Shape 44"/>
          <p:cNvSpPr/>
          <p:nvPr/>
        </p:nvSpPr>
        <p:spPr>
          <a:xfrm>
            <a:off x="4626864" y="3794760"/>
            <a:ext cx="2029968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45"/>
          <p:cNvSpPr/>
          <p:nvPr/>
        </p:nvSpPr>
        <p:spPr>
          <a:xfrm>
            <a:off x="4718304" y="38587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🏛️</a:t>
            </a:r>
            <a:endParaRPr lang="fr-FR" sz="1800" noProof="0" dirty="0"/>
          </a:p>
        </p:txBody>
      </p:sp>
      <p:sp>
        <p:nvSpPr>
          <p:cNvPr id="48" name="Text 46"/>
          <p:cNvSpPr/>
          <p:nvPr/>
        </p:nvSpPr>
        <p:spPr>
          <a:xfrm>
            <a:off x="5193792" y="3858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Data Warehouse</a:t>
            </a:r>
            <a:endParaRPr lang="fr-FR" sz="1100" noProof="0" dirty="0"/>
          </a:p>
        </p:txBody>
      </p:sp>
      <p:sp>
        <p:nvSpPr>
          <p:cNvPr id="49" name="Text 47"/>
          <p:cNvSpPr/>
          <p:nvPr/>
        </p:nvSpPr>
        <p:spPr>
          <a:xfrm>
            <a:off x="4718304" y="42519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les données métier pour l'analyse.</a:t>
            </a:r>
            <a:endParaRPr lang="fr-FR" sz="950" noProof="0" dirty="0"/>
          </a:p>
        </p:txBody>
      </p:sp>
      <p:sp>
        <p:nvSpPr>
          <p:cNvPr id="50" name="Shape 48"/>
          <p:cNvSpPr/>
          <p:nvPr/>
        </p:nvSpPr>
        <p:spPr>
          <a:xfrm>
            <a:off x="6803136" y="3794760"/>
            <a:ext cx="2029968" cy="105156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Shape 49"/>
          <p:cNvSpPr/>
          <p:nvPr/>
        </p:nvSpPr>
        <p:spPr>
          <a:xfrm>
            <a:off x="6803136" y="3794760"/>
            <a:ext cx="2029968" cy="54864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/>
          <p:cNvSpPr/>
          <p:nvPr/>
        </p:nvSpPr>
        <p:spPr>
          <a:xfrm>
            <a:off x="6894576" y="38587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🧹</a:t>
            </a:r>
            <a:endParaRPr lang="fr-FR" sz="1800" noProof="0" dirty="0"/>
          </a:p>
        </p:txBody>
      </p:sp>
      <p:sp>
        <p:nvSpPr>
          <p:cNvPr id="53" name="Text 51"/>
          <p:cNvSpPr/>
          <p:nvPr/>
        </p:nvSpPr>
        <p:spPr>
          <a:xfrm>
            <a:off x="7370064" y="3858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 données</a:t>
            </a:r>
            <a:endParaRPr lang="fr-FR" sz="1100" noProof="0" dirty="0"/>
          </a:p>
        </p:txBody>
      </p:sp>
      <p:sp>
        <p:nvSpPr>
          <p:cNvPr id="54" name="Text 52"/>
          <p:cNvSpPr/>
          <p:nvPr/>
        </p:nvSpPr>
        <p:spPr>
          <a:xfrm>
            <a:off x="6894576" y="4251960"/>
            <a:ext cx="18470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Corriger, standardiser et dédupliquer les données.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fr-FR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1207008" y="182880"/>
            <a:ext cx="36576" cy="5943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73152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Talend</a:t>
            </a:r>
            <a:endParaRPr lang="fr-FR" sz="2600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50" i="1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est une plateforme complète fournissant plusieurs modules de gestion des données qui n’est plus en open source depuis Janvier 2024.</a:t>
            </a:r>
            <a:endParaRPr lang="fr-F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292608" y="1691640"/>
            <a:ext cx="4114800" cy="13898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292608" y="1691640"/>
            <a:ext cx="4114800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66928" cy="566928"/>
          </a:xfrm>
          <a:prstGeom prst="ellipse">
            <a:avLst/>
          </a:prstGeom>
          <a:solidFill>
            <a:srgbClr val="00C9B1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fr-FR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1161288" y="184708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d'intégration de données</a:t>
            </a:r>
            <a:endParaRPr lang="fr-FR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1161288" y="2240280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 et synchronise des sources hétérogènes : bases de données relationnelles, fichiers, APIs, applications cloud, flux streaming et bien plus.</a:t>
            </a:r>
            <a:endParaRPr lang="fr-FR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4727448" y="1691640"/>
            <a:ext cx="4114800" cy="13898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4727448" y="1691640"/>
            <a:ext cx="4114800" cy="6400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4892040" y="1874520"/>
            <a:ext cx="566928" cy="566928"/>
          </a:xfrm>
          <a:prstGeom prst="ellipse">
            <a:avLst/>
          </a:prstGeom>
          <a:solidFill>
            <a:srgbClr val="1A73E8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4892040" y="1874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fr-FR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5596128" y="184708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ETL</a:t>
            </a:r>
            <a:endParaRPr lang="fr-F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5596128" y="2240280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transformation et chargement des données grâce à un studio graphique puissant générant du code Java natif optimisé.</a:t>
            </a:r>
            <a:endParaRPr lang="fr-FR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292608" y="3227832"/>
            <a:ext cx="4114800" cy="13898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292608" y="3227832"/>
            <a:ext cx="411480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457200" y="3410712"/>
            <a:ext cx="566928" cy="566928"/>
          </a:xfrm>
          <a:prstGeom prst="ellipse">
            <a:avLst/>
          </a:prstGeom>
          <a:solidFill>
            <a:srgbClr val="FFD166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🔓</a:t>
            </a:r>
            <a:endParaRPr lang="fr-FR" sz="2000" noProof="0" dirty="0"/>
          </a:p>
        </p:txBody>
      </p:sp>
      <p:sp>
        <p:nvSpPr>
          <p:cNvPr id="23" name="Text 21"/>
          <p:cNvSpPr/>
          <p:nvPr/>
        </p:nvSpPr>
        <p:spPr>
          <a:xfrm>
            <a:off x="1161288" y="338328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3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alternative Open Source</a:t>
            </a:r>
            <a:endParaRPr lang="fr-FR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1161288" y="3776472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Talaxie est un Fork base sur la dernière version de Talend qui continue d’être supporté et évolué par l’entreprise Deilink créée par des spécialistes Talend.</a:t>
            </a:r>
          </a:p>
        </p:txBody>
      </p:sp>
      <p:sp>
        <p:nvSpPr>
          <p:cNvPr id="25" name="Shape 23"/>
          <p:cNvSpPr/>
          <p:nvPr/>
        </p:nvSpPr>
        <p:spPr>
          <a:xfrm>
            <a:off x="4727448" y="3227832"/>
            <a:ext cx="4114800" cy="13898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4727448" y="3227832"/>
            <a:ext cx="4114800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4892040" y="3410712"/>
            <a:ext cx="566928" cy="566928"/>
          </a:xfrm>
          <a:prstGeom prst="ellipse">
            <a:avLst/>
          </a:prstGeom>
          <a:solidFill>
            <a:srgbClr val="06D6A0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489204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fr-FR" sz="2000" noProof="0" dirty="0"/>
          </a:p>
        </p:txBody>
      </p:sp>
      <p:sp>
        <p:nvSpPr>
          <p:cNvPr id="29" name="Text 27"/>
          <p:cNvSpPr/>
          <p:nvPr/>
        </p:nvSpPr>
        <p:spPr>
          <a:xfrm>
            <a:off x="5596128" y="338328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Data Engineering</a:t>
            </a:r>
            <a:endParaRPr lang="fr-FR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5596128" y="3776472"/>
            <a:ext cx="3090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par les Data Engineers pour construire des pipelines robustes, alimenter des Data Warehouses, des Data Lakes et orchestrer des flux de données complexes.</a:t>
            </a:r>
            <a:endParaRPr lang="fr-FR" sz="10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fr-FR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1207008" y="164592"/>
            <a:ext cx="36576" cy="594360"/>
          </a:xfrm>
          <a:prstGeom prst="rect">
            <a:avLst/>
          </a:prstGeom>
          <a:solidFill>
            <a:srgbClr val="F0F6FA">
              <a:alpha val="6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54864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Modules Talend</a:t>
            </a:r>
            <a:endParaRPr lang="fr-FR" sz="2600" noProof="0" dirty="0"/>
          </a:p>
        </p:txBody>
      </p:sp>
      <p:sp>
        <p:nvSpPr>
          <p:cNvPr id="6" name="Shape 4"/>
          <p:cNvSpPr/>
          <p:nvPr/>
        </p:nvSpPr>
        <p:spPr>
          <a:xfrm>
            <a:off x="219456" y="969264"/>
            <a:ext cx="2724912" cy="186537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19456" y="969264"/>
            <a:ext cx="2724912" cy="329184"/>
          </a:xfrm>
          <a:prstGeom prst="rect">
            <a:avLst/>
          </a:prstGeom>
          <a:solidFill>
            <a:srgbClr val="1A73E8">
              <a:alpha val="2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219456" y="969264"/>
            <a:ext cx="2724912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47472" y="1014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Data Intégration</a:t>
            </a:r>
            <a:endParaRPr lang="fr-FR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374904" y="1458215"/>
            <a:ext cx="82296" cy="82296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530352" y="13533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avancé</a:t>
            </a:r>
            <a:endParaRPr lang="fr-FR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374904" y="1805687"/>
            <a:ext cx="82296" cy="82296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530352" y="170078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de jobs</a:t>
            </a:r>
            <a:endParaRPr lang="fr-FR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374904" y="2153159"/>
            <a:ext cx="82296" cy="82296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530352" y="2048256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nombreux</a:t>
            </a:r>
            <a:endParaRPr lang="fr-FR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374904" y="2500631"/>
            <a:ext cx="82296" cy="82296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530352" y="239572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métadonnées</a:t>
            </a:r>
            <a:endParaRPr lang="fr-FR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3218688" y="969264"/>
            <a:ext cx="2724912" cy="186537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3218688" y="969264"/>
            <a:ext cx="2724912" cy="329184"/>
          </a:xfrm>
          <a:prstGeom prst="rect">
            <a:avLst/>
          </a:prstGeom>
          <a:solidFill>
            <a:srgbClr val="06D6A0">
              <a:alpha val="2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3218688" y="969264"/>
            <a:ext cx="2724912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3346704" y="1014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Data Quality</a:t>
            </a:r>
            <a:endParaRPr lang="fr-FR" sz="1150" noProof="0" dirty="0"/>
          </a:p>
        </p:txBody>
      </p:sp>
      <p:sp>
        <p:nvSpPr>
          <p:cNvPr id="22" name="Shape 20"/>
          <p:cNvSpPr/>
          <p:nvPr/>
        </p:nvSpPr>
        <p:spPr>
          <a:xfrm>
            <a:off x="3374136" y="1449117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3529584" y="13533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des données</a:t>
            </a:r>
            <a:endParaRPr lang="fr-FR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3374136" y="1796589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/>
          <p:nvPr/>
        </p:nvSpPr>
        <p:spPr>
          <a:xfrm>
            <a:off x="3529584" y="170078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</a:t>
            </a:r>
            <a:endParaRPr lang="fr-FR" sz="1000" noProof="0" dirty="0"/>
          </a:p>
        </p:txBody>
      </p:sp>
      <p:sp>
        <p:nvSpPr>
          <p:cNvPr id="26" name="Shape 24"/>
          <p:cNvSpPr/>
          <p:nvPr/>
        </p:nvSpPr>
        <p:spPr>
          <a:xfrm>
            <a:off x="3374136" y="2144061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529584" y="2048256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fr-FR" sz="1000" noProof="0" dirty="0"/>
          </a:p>
        </p:txBody>
      </p:sp>
      <p:sp>
        <p:nvSpPr>
          <p:cNvPr id="28" name="Shape 26"/>
          <p:cNvSpPr/>
          <p:nvPr/>
        </p:nvSpPr>
        <p:spPr>
          <a:xfrm>
            <a:off x="3374136" y="2491533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3529584" y="239572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</a:t>
            </a:r>
            <a:endParaRPr lang="fr-FR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6199632" y="969264"/>
            <a:ext cx="2724912" cy="186537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6199632" y="969264"/>
            <a:ext cx="2724912" cy="329184"/>
          </a:xfrm>
          <a:prstGeom prst="rect">
            <a:avLst/>
          </a:prstGeom>
          <a:solidFill>
            <a:srgbClr val="F4845F">
              <a:alpha val="2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6199632" y="969264"/>
            <a:ext cx="2724912" cy="54864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6327648" y="1014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Big Data</a:t>
            </a:r>
            <a:endParaRPr lang="fr-FR" sz="1150" noProof="0" dirty="0"/>
          </a:p>
        </p:txBody>
      </p:sp>
      <p:sp>
        <p:nvSpPr>
          <p:cNvPr id="34" name="Shape 32"/>
          <p:cNvSpPr/>
          <p:nvPr/>
        </p:nvSpPr>
        <p:spPr>
          <a:xfrm>
            <a:off x="6355080" y="1449117"/>
            <a:ext cx="82296" cy="82296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6510528" y="13533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</a:t>
            </a:r>
            <a:endParaRPr lang="fr-FR" sz="1000" noProof="0" dirty="0"/>
          </a:p>
        </p:txBody>
      </p:sp>
      <p:sp>
        <p:nvSpPr>
          <p:cNvPr id="36" name="Shape 34"/>
          <p:cNvSpPr/>
          <p:nvPr/>
        </p:nvSpPr>
        <p:spPr>
          <a:xfrm>
            <a:off x="6355080" y="1796589"/>
            <a:ext cx="82296" cy="82296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6510528" y="170078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fr-FR" sz="1000" noProof="0" dirty="0"/>
          </a:p>
        </p:txBody>
      </p:sp>
      <p:sp>
        <p:nvSpPr>
          <p:cNvPr id="38" name="Shape 36"/>
          <p:cNvSpPr/>
          <p:nvPr/>
        </p:nvSpPr>
        <p:spPr>
          <a:xfrm>
            <a:off x="6355080" y="2144061"/>
            <a:ext cx="82296" cy="82296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6510528" y="2048256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fr-FR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6355080" y="2491533"/>
            <a:ext cx="82296" cy="82296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6510528" y="239572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fr-FR" sz="1000" noProof="0" dirty="0"/>
          </a:p>
        </p:txBody>
      </p:sp>
      <p:sp>
        <p:nvSpPr>
          <p:cNvPr id="42" name="Shape 40"/>
          <p:cNvSpPr/>
          <p:nvPr/>
        </p:nvSpPr>
        <p:spPr>
          <a:xfrm>
            <a:off x="219456" y="2907792"/>
            <a:ext cx="2724912" cy="186537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Shape 41"/>
          <p:cNvSpPr/>
          <p:nvPr/>
        </p:nvSpPr>
        <p:spPr>
          <a:xfrm>
            <a:off x="219456" y="2907792"/>
            <a:ext cx="2724912" cy="329184"/>
          </a:xfrm>
          <a:prstGeom prst="rect">
            <a:avLst/>
          </a:prstGeom>
          <a:solidFill>
            <a:srgbClr val="9B72CF">
              <a:alpha val="2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Shape 42"/>
          <p:cNvSpPr/>
          <p:nvPr/>
        </p:nvSpPr>
        <p:spPr>
          <a:xfrm>
            <a:off x="219456" y="2907792"/>
            <a:ext cx="2724912" cy="54864"/>
          </a:xfrm>
          <a:prstGeom prst="rect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347472" y="2953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API Services</a:t>
            </a:r>
            <a:endParaRPr lang="fr-FR" sz="1150" noProof="0" dirty="0"/>
          </a:p>
        </p:txBody>
      </p:sp>
      <p:sp>
        <p:nvSpPr>
          <p:cNvPr id="46" name="Shape 44"/>
          <p:cNvSpPr/>
          <p:nvPr/>
        </p:nvSpPr>
        <p:spPr>
          <a:xfrm>
            <a:off x="374904" y="3396743"/>
            <a:ext cx="82296" cy="82296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45"/>
          <p:cNvSpPr/>
          <p:nvPr/>
        </p:nvSpPr>
        <p:spPr>
          <a:xfrm>
            <a:off x="530352" y="3291840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d'API</a:t>
            </a:r>
            <a:endParaRPr lang="fr-FR" sz="1000" noProof="0" dirty="0"/>
          </a:p>
        </p:txBody>
      </p:sp>
      <p:sp>
        <p:nvSpPr>
          <p:cNvPr id="48" name="Shape 46"/>
          <p:cNvSpPr/>
          <p:nvPr/>
        </p:nvSpPr>
        <p:spPr>
          <a:xfrm>
            <a:off x="374904" y="3744215"/>
            <a:ext cx="82296" cy="82296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9" name="Text 47"/>
          <p:cNvSpPr/>
          <p:nvPr/>
        </p:nvSpPr>
        <p:spPr>
          <a:xfrm>
            <a:off x="530352" y="36393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de services</a:t>
            </a:r>
            <a:endParaRPr lang="fr-FR" sz="1000" noProof="0" dirty="0"/>
          </a:p>
        </p:txBody>
      </p:sp>
      <p:sp>
        <p:nvSpPr>
          <p:cNvPr id="50" name="Shape 48"/>
          <p:cNvSpPr/>
          <p:nvPr/>
        </p:nvSpPr>
        <p:spPr>
          <a:xfrm>
            <a:off x="374904" y="4091687"/>
            <a:ext cx="82296" cy="82296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49"/>
          <p:cNvSpPr/>
          <p:nvPr/>
        </p:nvSpPr>
        <p:spPr>
          <a:xfrm>
            <a:off x="530352" y="398678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micro services</a:t>
            </a:r>
            <a:endParaRPr lang="fr-FR" sz="1000" noProof="0" dirty="0"/>
          </a:p>
        </p:txBody>
      </p:sp>
      <p:sp>
        <p:nvSpPr>
          <p:cNvPr id="52" name="Shape 50"/>
          <p:cNvSpPr/>
          <p:nvPr/>
        </p:nvSpPr>
        <p:spPr>
          <a:xfrm>
            <a:off x="374904" y="4439159"/>
            <a:ext cx="82296" cy="82296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3" name="Text 51"/>
          <p:cNvSpPr/>
          <p:nvPr/>
        </p:nvSpPr>
        <p:spPr>
          <a:xfrm>
            <a:off x="530352" y="4334256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REST / SOAP</a:t>
            </a:r>
            <a:endParaRPr lang="fr-FR" sz="1000" noProof="0" dirty="0"/>
          </a:p>
        </p:txBody>
      </p:sp>
      <p:sp>
        <p:nvSpPr>
          <p:cNvPr id="54" name="Shape 52"/>
          <p:cNvSpPr/>
          <p:nvPr/>
        </p:nvSpPr>
        <p:spPr>
          <a:xfrm>
            <a:off x="3218688" y="2903243"/>
            <a:ext cx="2724912" cy="186537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Shape 53"/>
          <p:cNvSpPr/>
          <p:nvPr/>
        </p:nvSpPr>
        <p:spPr>
          <a:xfrm>
            <a:off x="3218688" y="2907792"/>
            <a:ext cx="2724912" cy="329184"/>
          </a:xfrm>
          <a:prstGeom prst="rect">
            <a:avLst/>
          </a:prstGeom>
          <a:solidFill>
            <a:srgbClr val="FFD166">
              <a:alpha val="2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6" name="Shape 54"/>
          <p:cNvSpPr/>
          <p:nvPr/>
        </p:nvSpPr>
        <p:spPr>
          <a:xfrm>
            <a:off x="3218688" y="2907792"/>
            <a:ext cx="2724912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7" name="Text 55"/>
          <p:cNvSpPr/>
          <p:nvPr/>
        </p:nvSpPr>
        <p:spPr>
          <a:xfrm>
            <a:off x="3346704" y="2953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Cloud</a:t>
            </a:r>
            <a:endParaRPr lang="fr-FR" sz="1150" noProof="0" dirty="0"/>
          </a:p>
        </p:txBody>
      </p:sp>
      <p:sp>
        <p:nvSpPr>
          <p:cNvPr id="58" name="Shape 56"/>
          <p:cNvSpPr/>
          <p:nvPr/>
        </p:nvSpPr>
        <p:spPr>
          <a:xfrm>
            <a:off x="3374136" y="3383096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9" name="Text 57"/>
          <p:cNvSpPr/>
          <p:nvPr/>
        </p:nvSpPr>
        <p:spPr>
          <a:xfrm>
            <a:off x="3529584" y="3278193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cloud</a:t>
            </a:r>
            <a:endParaRPr lang="fr-FR" sz="1000" noProof="0" dirty="0"/>
          </a:p>
        </p:txBody>
      </p:sp>
      <p:sp>
        <p:nvSpPr>
          <p:cNvPr id="60" name="Shape 58"/>
          <p:cNvSpPr/>
          <p:nvPr/>
        </p:nvSpPr>
        <p:spPr>
          <a:xfrm>
            <a:off x="3374136" y="3730568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Text 59"/>
          <p:cNvSpPr/>
          <p:nvPr/>
        </p:nvSpPr>
        <p:spPr>
          <a:xfrm>
            <a:off x="3529584" y="363931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cloud</a:t>
            </a:r>
            <a:endParaRPr lang="fr-FR" sz="1000" noProof="0" dirty="0"/>
          </a:p>
        </p:txBody>
      </p:sp>
      <p:sp>
        <p:nvSpPr>
          <p:cNvPr id="62" name="Shape 60"/>
          <p:cNvSpPr/>
          <p:nvPr/>
        </p:nvSpPr>
        <p:spPr>
          <a:xfrm>
            <a:off x="3374136" y="4078040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Text 61"/>
          <p:cNvSpPr/>
          <p:nvPr/>
        </p:nvSpPr>
        <p:spPr>
          <a:xfrm>
            <a:off x="3529584" y="3986784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centralisée</a:t>
            </a:r>
            <a:endParaRPr lang="fr-FR" sz="1000" noProof="0" dirty="0"/>
          </a:p>
        </p:txBody>
      </p:sp>
      <p:sp>
        <p:nvSpPr>
          <p:cNvPr id="64" name="Shape 62"/>
          <p:cNvSpPr/>
          <p:nvPr/>
        </p:nvSpPr>
        <p:spPr>
          <a:xfrm>
            <a:off x="3374136" y="4425512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5" name="Text 63"/>
          <p:cNvSpPr/>
          <p:nvPr/>
        </p:nvSpPr>
        <p:spPr>
          <a:xfrm>
            <a:off x="3529584" y="4334256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SaaS</a:t>
            </a:r>
            <a:endParaRPr lang="fr-FR" sz="1000" noProof="0" dirty="0"/>
          </a:p>
        </p:txBody>
      </p:sp>
      <p:sp>
        <p:nvSpPr>
          <p:cNvPr id="66" name="Shape 64"/>
          <p:cNvSpPr/>
          <p:nvPr/>
        </p:nvSpPr>
        <p:spPr>
          <a:xfrm>
            <a:off x="6199632" y="2907792"/>
            <a:ext cx="2724912" cy="186537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7" name="Shape 65"/>
          <p:cNvSpPr/>
          <p:nvPr/>
        </p:nvSpPr>
        <p:spPr>
          <a:xfrm>
            <a:off x="6199632" y="2907792"/>
            <a:ext cx="2724912" cy="329184"/>
          </a:xfrm>
          <a:prstGeom prst="rect">
            <a:avLst/>
          </a:prstGeom>
          <a:solidFill>
            <a:srgbClr val="E84393">
              <a:alpha val="2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Shape 66"/>
          <p:cNvSpPr/>
          <p:nvPr/>
        </p:nvSpPr>
        <p:spPr>
          <a:xfrm>
            <a:off x="6199632" y="2907792"/>
            <a:ext cx="2724912" cy="54864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9" name="Text 67"/>
          <p:cNvSpPr/>
          <p:nvPr/>
        </p:nvSpPr>
        <p:spPr>
          <a:xfrm>
            <a:off x="6327648" y="2953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Data Catalog</a:t>
            </a:r>
            <a:endParaRPr lang="fr-FR" sz="1150" noProof="0" dirty="0"/>
          </a:p>
        </p:txBody>
      </p:sp>
      <p:sp>
        <p:nvSpPr>
          <p:cNvPr id="70" name="Shape 68"/>
          <p:cNvSpPr/>
          <p:nvPr/>
        </p:nvSpPr>
        <p:spPr>
          <a:xfrm>
            <a:off x="6355080" y="3369449"/>
            <a:ext cx="82296" cy="82296"/>
          </a:xfrm>
          <a:prstGeom prst="ellipse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1" name="Text 69"/>
          <p:cNvSpPr/>
          <p:nvPr/>
        </p:nvSpPr>
        <p:spPr>
          <a:xfrm>
            <a:off x="6510528" y="3291840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 toutes les sources et cibles (bases, fichiers, cloud)</a:t>
            </a:r>
            <a:endParaRPr lang="fr-FR" sz="1000" noProof="0" dirty="0"/>
          </a:p>
        </p:txBody>
      </p:sp>
      <p:sp>
        <p:nvSpPr>
          <p:cNvPr id="72" name="Shape 70"/>
          <p:cNvSpPr/>
          <p:nvPr/>
        </p:nvSpPr>
        <p:spPr>
          <a:xfrm>
            <a:off x="6355080" y="3716921"/>
            <a:ext cx="82296" cy="82296"/>
          </a:xfrm>
          <a:prstGeom prst="ellipse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3" name="Text 71"/>
          <p:cNvSpPr/>
          <p:nvPr/>
        </p:nvSpPr>
        <p:spPr>
          <a:xfrm>
            <a:off x="6510528" y="3612018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transformations et flux</a:t>
            </a:r>
            <a:endParaRPr lang="fr-FR" sz="1000" noProof="0" dirty="0"/>
          </a:p>
        </p:txBody>
      </p:sp>
      <p:sp>
        <p:nvSpPr>
          <p:cNvPr id="74" name="Shape 72"/>
          <p:cNvSpPr/>
          <p:nvPr/>
        </p:nvSpPr>
        <p:spPr>
          <a:xfrm>
            <a:off x="6355080" y="4064393"/>
            <a:ext cx="82296" cy="82296"/>
          </a:xfrm>
          <a:prstGeom prst="ellipse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5" name="Text 73"/>
          <p:cNvSpPr/>
          <p:nvPr/>
        </p:nvSpPr>
        <p:spPr>
          <a:xfrm>
            <a:off x="6510528" y="395039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 parcours de la donnée</a:t>
            </a:r>
            <a:endParaRPr lang="fr-FR" sz="1000" noProof="0" dirty="0"/>
          </a:p>
        </p:txBody>
      </p:sp>
      <p:sp>
        <p:nvSpPr>
          <p:cNvPr id="76" name="Shape 74"/>
          <p:cNvSpPr/>
          <p:nvPr/>
        </p:nvSpPr>
        <p:spPr>
          <a:xfrm>
            <a:off x="6355080" y="4411865"/>
            <a:ext cx="82296" cy="82296"/>
          </a:xfrm>
          <a:prstGeom prst="ellipse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7" name="Text 75"/>
          <p:cNvSpPr/>
          <p:nvPr/>
        </p:nvSpPr>
        <p:spPr>
          <a:xfrm>
            <a:off x="6510528" y="4293315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l'impact d'une modification</a:t>
            </a:r>
            <a:endParaRPr lang="fr-FR" sz="1000" noProof="0" dirty="0"/>
          </a:p>
        </p:txBody>
      </p:sp>
      <p:sp>
        <p:nvSpPr>
          <p:cNvPr id="78" name="Shape 76"/>
          <p:cNvSpPr/>
          <p:nvPr/>
        </p:nvSpPr>
        <p:spPr>
          <a:xfrm>
            <a:off x="219456" y="4828032"/>
            <a:ext cx="8705088" cy="237744"/>
          </a:xfrm>
          <a:prstGeom prst="rect">
            <a:avLst/>
          </a:prstGeom>
          <a:solidFill>
            <a:srgbClr val="E84393">
              <a:alpha val="1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9" name="Shape 77"/>
          <p:cNvSpPr/>
          <p:nvPr/>
        </p:nvSpPr>
        <p:spPr>
          <a:xfrm>
            <a:off x="219456" y="4828032"/>
            <a:ext cx="64008" cy="237744"/>
          </a:xfrm>
          <a:prstGeom prst="rect">
            <a:avLst/>
          </a:prstGeom>
          <a:solidFill>
            <a:srgbClr val="E843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0" name="Shape 78"/>
          <p:cNvSpPr/>
          <p:nvPr/>
        </p:nvSpPr>
        <p:spPr>
          <a:xfrm>
            <a:off x="292608" y="4855464"/>
            <a:ext cx="1325880" cy="201168"/>
          </a:xfrm>
          <a:prstGeom prst="rect">
            <a:avLst/>
          </a:prstGeom>
          <a:solidFill>
            <a:srgbClr val="00C9B1">
              <a:alpha val="3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1" name="Text 79"/>
          <p:cNvSpPr/>
          <p:nvPr/>
        </p:nvSpPr>
        <p:spPr>
          <a:xfrm>
            <a:off x="292608" y="485546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fr-FR" sz="800" noProof="0" dirty="0"/>
          </a:p>
        </p:txBody>
      </p:sp>
      <p:sp>
        <p:nvSpPr>
          <p:cNvPr id="82" name="Text 80"/>
          <p:cNvSpPr/>
          <p:nvPr/>
        </p:nvSpPr>
        <p:spPr>
          <a:xfrm>
            <a:off x="1746504" y="485546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fr-FR" sz="800" noProof="0" dirty="0"/>
          </a:p>
        </p:txBody>
      </p:sp>
      <p:sp>
        <p:nvSpPr>
          <p:cNvPr id="83" name="Shape 81"/>
          <p:cNvSpPr/>
          <p:nvPr/>
        </p:nvSpPr>
        <p:spPr>
          <a:xfrm>
            <a:off x="1965960" y="4855464"/>
            <a:ext cx="1325880" cy="201168"/>
          </a:xfrm>
          <a:prstGeom prst="rect">
            <a:avLst/>
          </a:prstGeom>
          <a:solidFill>
            <a:srgbClr val="1A73E8">
              <a:alpha val="3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4" name="Text 82"/>
          <p:cNvSpPr/>
          <p:nvPr/>
        </p:nvSpPr>
        <p:spPr>
          <a:xfrm>
            <a:off x="1965960" y="485546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Talend</a:t>
            </a:r>
            <a:endParaRPr lang="fr-FR" sz="800" noProof="0" dirty="0"/>
          </a:p>
        </p:txBody>
      </p:sp>
      <p:sp>
        <p:nvSpPr>
          <p:cNvPr id="85" name="Text 83"/>
          <p:cNvSpPr/>
          <p:nvPr/>
        </p:nvSpPr>
        <p:spPr>
          <a:xfrm>
            <a:off x="3419856" y="485546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fr-FR" sz="800" noProof="0" dirty="0"/>
          </a:p>
        </p:txBody>
      </p:sp>
      <p:sp>
        <p:nvSpPr>
          <p:cNvPr id="86" name="Shape 84"/>
          <p:cNvSpPr/>
          <p:nvPr/>
        </p:nvSpPr>
        <p:spPr>
          <a:xfrm>
            <a:off x="3639312" y="4855464"/>
            <a:ext cx="1325880" cy="201168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7" name="Text 85"/>
          <p:cNvSpPr/>
          <p:nvPr/>
        </p:nvSpPr>
        <p:spPr>
          <a:xfrm>
            <a:off x="3639312" y="485546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WH</a:t>
            </a:r>
            <a:endParaRPr lang="fr-FR" sz="800" noProof="0" dirty="0"/>
          </a:p>
        </p:txBody>
      </p:sp>
      <p:sp>
        <p:nvSpPr>
          <p:cNvPr id="88" name="Text 86"/>
          <p:cNvSpPr/>
          <p:nvPr/>
        </p:nvSpPr>
        <p:spPr>
          <a:xfrm>
            <a:off x="5093208" y="485546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fr-FR" sz="800" noProof="0" dirty="0"/>
          </a:p>
        </p:txBody>
      </p:sp>
      <p:sp>
        <p:nvSpPr>
          <p:cNvPr id="89" name="Shape 87"/>
          <p:cNvSpPr/>
          <p:nvPr/>
        </p:nvSpPr>
        <p:spPr>
          <a:xfrm>
            <a:off x="5312664" y="4855464"/>
            <a:ext cx="1325880" cy="201168"/>
          </a:xfrm>
          <a:prstGeom prst="rect">
            <a:avLst/>
          </a:prstGeom>
          <a:solidFill>
            <a:srgbClr val="F4845F">
              <a:alpha val="3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0" name="Text 88"/>
          <p:cNvSpPr/>
          <p:nvPr/>
        </p:nvSpPr>
        <p:spPr>
          <a:xfrm>
            <a:off x="5312664" y="485546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8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Dataviz</a:t>
            </a:r>
            <a:endParaRPr lang="fr-FR" sz="800" noProof="0" dirty="0"/>
          </a:p>
        </p:txBody>
      </p:sp>
      <p:sp>
        <p:nvSpPr>
          <p:cNvPr id="91" name="Text 89"/>
          <p:cNvSpPr/>
          <p:nvPr/>
        </p:nvSpPr>
        <p:spPr>
          <a:xfrm>
            <a:off x="6949440" y="482803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00" b="1" i="1" noProof="0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fr-FR" sz="8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fr-FR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1207008" y="164592"/>
            <a:ext cx="36576" cy="5943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54864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avantages de Talend</a:t>
            </a:r>
            <a:endParaRPr lang="fr-FR" sz="2600" noProof="0" dirty="0"/>
          </a:p>
        </p:txBody>
      </p:sp>
      <p:sp>
        <p:nvSpPr>
          <p:cNvPr id="6" name="Shape 4"/>
          <p:cNvSpPr/>
          <p:nvPr/>
        </p:nvSpPr>
        <p:spPr>
          <a:xfrm>
            <a:off x="219456" y="960120"/>
            <a:ext cx="2724912" cy="1828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19456" y="960120"/>
            <a:ext cx="2724912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347472" y="1088136"/>
            <a:ext cx="402336" cy="274320"/>
          </a:xfrm>
          <a:prstGeom prst="rect">
            <a:avLst/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384048" y="1124712"/>
            <a:ext cx="329184" cy="182880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512064" y="1362456"/>
            <a:ext cx="64008" cy="9144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20624" y="1435608"/>
            <a:ext cx="246888" cy="4572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106984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intuitive</a:t>
            </a:r>
            <a:endParaRPr lang="fr-F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374904" y="1632043"/>
            <a:ext cx="73152" cy="73152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521208" y="1545336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basé sur Eclipse</a:t>
            </a:r>
            <a:endParaRPr lang="fr-FR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374904" y="1897219"/>
            <a:ext cx="73152" cy="73152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521208" y="181051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 des composants</a:t>
            </a:r>
            <a:endParaRPr lang="fr-FR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374904" y="2162395"/>
            <a:ext cx="73152" cy="73152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521208" y="207568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Débogage visuel intégré</a:t>
            </a:r>
            <a:endParaRPr lang="fr-FR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374904" y="2427571"/>
            <a:ext cx="73152" cy="73152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521208" y="234086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code Java automatique</a:t>
            </a:r>
            <a:endParaRPr lang="fr-FR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3218688" y="960120"/>
            <a:ext cx="2724912" cy="1828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3218688" y="960120"/>
            <a:ext cx="2724912" cy="6400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3346704" y="1069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fr-FR" sz="1800" noProof="0" dirty="0"/>
          </a:p>
        </p:txBody>
      </p:sp>
      <p:sp>
        <p:nvSpPr>
          <p:cNvPr id="24" name="Text 22"/>
          <p:cNvSpPr/>
          <p:nvPr/>
        </p:nvSpPr>
        <p:spPr>
          <a:xfrm>
            <a:off x="3822192" y="106984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bibliothèque de composants</a:t>
            </a:r>
            <a:endParaRPr lang="fr-FR" sz="1150" noProof="0" dirty="0"/>
          </a:p>
        </p:txBody>
      </p:sp>
      <p:sp>
        <p:nvSpPr>
          <p:cNvPr id="25" name="Text 23"/>
          <p:cNvSpPr/>
          <p:nvPr/>
        </p:nvSpPr>
        <p:spPr>
          <a:xfrm>
            <a:off x="3346704" y="152704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900 composants natifs disponibles</a:t>
            </a:r>
            <a:endParaRPr lang="fr-FR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3374136" y="1874520"/>
            <a:ext cx="73152" cy="7315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520440" y="1787813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cibles</a:t>
            </a:r>
            <a:endParaRPr lang="fr-FR" sz="1000" noProof="0" dirty="0"/>
          </a:p>
        </p:txBody>
      </p:sp>
      <p:sp>
        <p:nvSpPr>
          <p:cNvPr id="28" name="Shape 26"/>
          <p:cNvSpPr/>
          <p:nvPr/>
        </p:nvSpPr>
        <p:spPr>
          <a:xfrm>
            <a:off x="3374136" y="2139696"/>
            <a:ext cx="73152" cy="7315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3520440" y="204844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fr-FR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3374136" y="2404872"/>
            <a:ext cx="73152" cy="7315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3520440" y="232271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fr-FR" sz="1000" noProof="0" dirty="0"/>
          </a:p>
        </p:txBody>
      </p:sp>
      <p:sp>
        <p:nvSpPr>
          <p:cNvPr id="32" name="Shape 30"/>
          <p:cNvSpPr/>
          <p:nvPr/>
        </p:nvSpPr>
        <p:spPr>
          <a:xfrm>
            <a:off x="3374136" y="2670048"/>
            <a:ext cx="73152" cy="7315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3520440" y="257879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Big Data</a:t>
            </a:r>
            <a:endParaRPr lang="fr-FR" sz="1000" noProof="0" dirty="0"/>
          </a:p>
        </p:txBody>
      </p:sp>
      <p:sp>
        <p:nvSpPr>
          <p:cNvPr id="34" name="Shape 32"/>
          <p:cNvSpPr/>
          <p:nvPr/>
        </p:nvSpPr>
        <p:spPr>
          <a:xfrm>
            <a:off x="6199632" y="960120"/>
            <a:ext cx="2724912" cy="1828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33"/>
          <p:cNvSpPr/>
          <p:nvPr/>
        </p:nvSpPr>
        <p:spPr>
          <a:xfrm>
            <a:off x="6199632" y="960120"/>
            <a:ext cx="272491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6327648" y="10698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♻️</a:t>
            </a:r>
            <a:endParaRPr lang="fr-FR" sz="1800" noProof="0" dirty="0"/>
          </a:p>
        </p:txBody>
      </p:sp>
      <p:sp>
        <p:nvSpPr>
          <p:cNvPr id="37" name="Text 35"/>
          <p:cNvSpPr/>
          <p:nvPr/>
        </p:nvSpPr>
        <p:spPr>
          <a:xfrm>
            <a:off x="6803136" y="106984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Modularité &amp; Réutilisation</a:t>
            </a:r>
            <a:endParaRPr lang="fr-FR" sz="1150" noProof="0" dirty="0"/>
          </a:p>
        </p:txBody>
      </p:sp>
      <p:sp>
        <p:nvSpPr>
          <p:cNvPr id="38" name="Shape 36"/>
          <p:cNvSpPr/>
          <p:nvPr/>
        </p:nvSpPr>
        <p:spPr>
          <a:xfrm>
            <a:off x="6355080" y="1600200"/>
            <a:ext cx="73152" cy="7315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7"/>
          <p:cNvSpPr/>
          <p:nvPr/>
        </p:nvSpPr>
        <p:spPr>
          <a:xfrm>
            <a:off x="6501384" y="151804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Sous-jobs réutilisables</a:t>
            </a:r>
            <a:endParaRPr lang="fr-FR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6355080" y="1865376"/>
            <a:ext cx="73152" cy="7315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6501384" y="1787767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Java partagées</a:t>
            </a:r>
            <a:endParaRPr lang="fr-FR" sz="1000" noProof="0" dirty="0"/>
          </a:p>
        </p:txBody>
      </p:sp>
      <p:sp>
        <p:nvSpPr>
          <p:cNvPr id="42" name="Shape 40"/>
          <p:cNvSpPr/>
          <p:nvPr/>
        </p:nvSpPr>
        <p:spPr>
          <a:xfrm>
            <a:off x="6355080" y="2130552"/>
            <a:ext cx="73152" cy="7315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41"/>
          <p:cNvSpPr/>
          <p:nvPr/>
        </p:nvSpPr>
        <p:spPr>
          <a:xfrm>
            <a:off x="6501384" y="2052943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Contextes multi-environnements</a:t>
            </a:r>
            <a:endParaRPr lang="fr-FR" sz="1000" noProof="0" dirty="0"/>
          </a:p>
        </p:txBody>
      </p:sp>
      <p:sp>
        <p:nvSpPr>
          <p:cNvPr id="44" name="Shape 42"/>
          <p:cNvSpPr/>
          <p:nvPr/>
        </p:nvSpPr>
        <p:spPr>
          <a:xfrm>
            <a:off x="6355080" y="2395728"/>
            <a:ext cx="73152" cy="7315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6501384" y="232266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centralisées</a:t>
            </a:r>
            <a:endParaRPr lang="fr-FR" sz="1000" noProof="0" dirty="0"/>
          </a:p>
        </p:txBody>
      </p:sp>
      <p:sp>
        <p:nvSpPr>
          <p:cNvPr id="46" name="Shape 44"/>
          <p:cNvSpPr/>
          <p:nvPr/>
        </p:nvSpPr>
        <p:spPr>
          <a:xfrm>
            <a:off x="219456" y="2907608"/>
            <a:ext cx="2724912" cy="1828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45"/>
          <p:cNvSpPr/>
          <p:nvPr/>
        </p:nvSpPr>
        <p:spPr>
          <a:xfrm>
            <a:off x="219456" y="2871216"/>
            <a:ext cx="2724912" cy="64008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6"/>
          <p:cNvSpPr/>
          <p:nvPr/>
        </p:nvSpPr>
        <p:spPr>
          <a:xfrm>
            <a:off x="347472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fr-FR" sz="1800" noProof="0" dirty="0"/>
          </a:p>
        </p:txBody>
      </p:sp>
      <p:sp>
        <p:nvSpPr>
          <p:cNvPr id="49" name="Text 47"/>
          <p:cNvSpPr/>
          <p:nvPr/>
        </p:nvSpPr>
        <p:spPr>
          <a:xfrm>
            <a:off x="822960" y="2980944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avancé des données</a:t>
            </a:r>
            <a:endParaRPr lang="fr-FR" sz="1150" noProof="0" dirty="0"/>
          </a:p>
        </p:txBody>
      </p:sp>
      <p:sp>
        <p:nvSpPr>
          <p:cNvPr id="50" name="Shape 48"/>
          <p:cNvSpPr/>
          <p:nvPr/>
        </p:nvSpPr>
        <p:spPr>
          <a:xfrm>
            <a:off x="374904" y="3547688"/>
            <a:ext cx="73152" cy="73152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49"/>
          <p:cNvSpPr/>
          <p:nvPr/>
        </p:nvSpPr>
        <p:spPr>
          <a:xfrm>
            <a:off x="521208" y="345643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multi-fichiers</a:t>
            </a:r>
            <a:endParaRPr lang="fr-FR" sz="1000" noProof="0" dirty="0"/>
          </a:p>
        </p:txBody>
      </p:sp>
      <p:sp>
        <p:nvSpPr>
          <p:cNvPr id="52" name="Shape 50"/>
          <p:cNvSpPr/>
          <p:nvPr/>
        </p:nvSpPr>
        <p:spPr>
          <a:xfrm>
            <a:off x="374904" y="3817413"/>
            <a:ext cx="73152" cy="73152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3" name="Text 51"/>
          <p:cNvSpPr/>
          <p:nvPr/>
        </p:nvSpPr>
        <p:spPr>
          <a:xfrm>
            <a:off x="521208" y="372160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complexes : XML / JSON</a:t>
            </a:r>
            <a:endParaRPr lang="fr-FR" sz="1000" noProof="0" dirty="0"/>
          </a:p>
        </p:txBody>
      </p:sp>
      <p:sp>
        <p:nvSpPr>
          <p:cNvPr id="54" name="Shape 52"/>
          <p:cNvSpPr/>
          <p:nvPr/>
        </p:nvSpPr>
        <p:spPr>
          <a:xfrm>
            <a:off x="374904" y="4078040"/>
            <a:ext cx="73152" cy="73152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Text 53"/>
          <p:cNvSpPr/>
          <p:nvPr/>
        </p:nvSpPr>
        <p:spPr>
          <a:xfrm>
            <a:off x="521208" y="398678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conditionnels &amp; parallèles</a:t>
            </a:r>
            <a:endParaRPr lang="fr-FR" sz="1000" noProof="0" dirty="0"/>
          </a:p>
        </p:txBody>
      </p:sp>
      <p:sp>
        <p:nvSpPr>
          <p:cNvPr id="56" name="Shape 54"/>
          <p:cNvSpPr/>
          <p:nvPr/>
        </p:nvSpPr>
        <p:spPr>
          <a:xfrm>
            <a:off x="374904" y="4343216"/>
            <a:ext cx="73152" cy="73152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7" name="Text 55"/>
          <p:cNvSpPr/>
          <p:nvPr/>
        </p:nvSpPr>
        <p:spPr>
          <a:xfrm>
            <a:off x="521208" y="425196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Component Ok · On Subjob Ok · Run If</a:t>
            </a:r>
            <a:endParaRPr lang="fr-FR" sz="1000" noProof="0" dirty="0"/>
          </a:p>
        </p:txBody>
      </p:sp>
      <p:sp>
        <p:nvSpPr>
          <p:cNvPr id="58" name="Shape 56"/>
          <p:cNvSpPr/>
          <p:nvPr/>
        </p:nvSpPr>
        <p:spPr>
          <a:xfrm>
            <a:off x="3218688" y="2871216"/>
            <a:ext cx="2724912" cy="1828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9" name="Shape 57"/>
          <p:cNvSpPr/>
          <p:nvPr/>
        </p:nvSpPr>
        <p:spPr>
          <a:xfrm>
            <a:off x="3218688" y="2871216"/>
            <a:ext cx="272491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0" name="Text 58"/>
          <p:cNvSpPr/>
          <p:nvPr/>
        </p:nvSpPr>
        <p:spPr>
          <a:xfrm>
            <a:off x="3346704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fr-FR" sz="1800" noProof="0" dirty="0"/>
          </a:p>
        </p:txBody>
      </p:sp>
      <p:sp>
        <p:nvSpPr>
          <p:cNvPr id="61" name="Text 59"/>
          <p:cNvSpPr/>
          <p:nvPr/>
        </p:nvSpPr>
        <p:spPr>
          <a:xfrm>
            <a:off x="3822192" y="2980944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&amp; monitoring</a:t>
            </a:r>
            <a:endParaRPr lang="fr-FR" sz="1150" noProof="0" dirty="0"/>
          </a:p>
        </p:txBody>
      </p:sp>
      <p:sp>
        <p:nvSpPr>
          <p:cNvPr id="62" name="Shape 60"/>
          <p:cNvSpPr/>
          <p:nvPr/>
        </p:nvSpPr>
        <p:spPr>
          <a:xfrm>
            <a:off x="3374136" y="3552237"/>
            <a:ext cx="73152" cy="7315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Text 61"/>
          <p:cNvSpPr/>
          <p:nvPr/>
        </p:nvSpPr>
        <p:spPr>
          <a:xfrm>
            <a:off x="3520440" y="345643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détaillés d'exécution</a:t>
            </a:r>
            <a:endParaRPr lang="fr-FR" sz="1000" noProof="0" dirty="0"/>
          </a:p>
        </p:txBody>
      </p:sp>
      <p:sp>
        <p:nvSpPr>
          <p:cNvPr id="64" name="Shape 62"/>
          <p:cNvSpPr/>
          <p:nvPr/>
        </p:nvSpPr>
        <p:spPr>
          <a:xfrm>
            <a:off x="3374136" y="3817413"/>
            <a:ext cx="73152" cy="7315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5" name="Text 63"/>
          <p:cNvSpPr/>
          <p:nvPr/>
        </p:nvSpPr>
        <p:spPr>
          <a:xfrm>
            <a:off x="3520440" y="372160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rejet (tLogRow, </a:t>
            </a:r>
            <a:r>
              <a:rPr lang="fr-FR" sz="1000" noProof="0" dirty="0" err="1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tDie</a:t>
            </a: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000" noProof="0" dirty="0" err="1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tWarn</a:t>
            </a: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…)</a:t>
            </a:r>
            <a:endParaRPr lang="fr-FR" sz="1000" noProof="0" dirty="0"/>
          </a:p>
        </p:txBody>
      </p:sp>
      <p:sp>
        <p:nvSpPr>
          <p:cNvPr id="66" name="Shape 64"/>
          <p:cNvSpPr/>
          <p:nvPr/>
        </p:nvSpPr>
        <p:spPr>
          <a:xfrm>
            <a:off x="3374136" y="4082589"/>
            <a:ext cx="73152" cy="7315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7" name="Text 65"/>
          <p:cNvSpPr/>
          <p:nvPr/>
        </p:nvSpPr>
        <p:spPr>
          <a:xfrm>
            <a:off x="3520440" y="398678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des erreurs par composant</a:t>
            </a:r>
            <a:endParaRPr lang="fr-FR" sz="1000" noProof="0" dirty="0"/>
          </a:p>
        </p:txBody>
      </p:sp>
      <p:sp>
        <p:nvSpPr>
          <p:cNvPr id="68" name="Shape 66"/>
          <p:cNvSpPr/>
          <p:nvPr/>
        </p:nvSpPr>
        <p:spPr>
          <a:xfrm>
            <a:off x="3374136" y="4347765"/>
            <a:ext cx="73152" cy="7315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9" name="Text 67"/>
          <p:cNvSpPr/>
          <p:nvPr/>
        </p:nvSpPr>
        <p:spPr>
          <a:xfrm>
            <a:off x="3520440" y="425196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des jobs en temps réel</a:t>
            </a:r>
            <a:endParaRPr lang="fr-FR" sz="1000" noProof="0" dirty="0"/>
          </a:p>
        </p:txBody>
      </p:sp>
      <p:sp>
        <p:nvSpPr>
          <p:cNvPr id="70" name="Shape 68"/>
          <p:cNvSpPr/>
          <p:nvPr/>
        </p:nvSpPr>
        <p:spPr>
          <a:xfrm>
            <a:off x="6199632" y="2871216"/>
            <a:ext cx="2724912" cy="1828800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1" name="Shape 69"/>
          <p:cNvSpPr/>
          <p:nvPr/>
        </p:nvSpPr>
        <p:spPr>
          <a:xfrm>
            <a:off x="6199632" y="2871216"/>
            <a:ext cx="2724912" cy="64008"/>
          </a:xfrm>
          <a:prstGeom prst="rect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2" name="Text 70"/>
          <p:cNvSpPr/>
          <p:nvPr/>
        </p:nvSpPr>
        <p:spPr>
          <a:xfrm>
            <a:off x="6327648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fr-FR" sz="1800" noProof="0" dirty="0"/>
          </a:p>
        </p:txBody>
      </p:sp>
      <p:sp>
        <p:nvSpPr>
          <p:cNvPr id="73" name="Text 71"/>
          <p:cNvSpPr/>
          <p:nvPr/>
        </p:nvSpPr>
        <p:spPr>
          <a:xfrm>
            <a:off x="6803136" y="2980944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automatisation des jobs</a:t>
            </a:r>
            <a:endParaRPr lang="fr-FR" sz="1150" noProof="0" dirty="0"/>
          </a:p>
        </p:txBody>
      </p:sp>
      <p:sp>
        <p:nvSpPr>
          <p:cNvPr id="74" name="Text 72"/>
          <p:cNvSpPr/>
          <p:nvPr/>
        </p:nvSpPr>
        <p:spPr>
          <a:xfrm>
            <a:off x="6327648" y="343814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exécutable généré depuis le Studio</a:t>
            </a:r>
            <a:endParaRPr lang="fr-FR" sz="950" noProof="0" dirty="0"/>
          </a:p>
        </p:txBody>
      </p:sp>
      <p:sp>
        <p:nvSpPr>
          <p:cNvPr id="75" name="Shape 73"/>
          <p:cNvSpPr/>
          <p:nvPr/>
        </p:nvSpPr>
        <p:spPr>
          <a:xfrm>
            <a:off x="6355080" y="3826557"/>
            <a:ext cx="73152" cy="73152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Text 74"/>
          <p:cNvSpPr/>
          <p:nvPr/>
        </p:nvSpPr>
        <p:spPr>
          <a:xfrm>
            <a:off x="6501384" y="373075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Exécutable Windows (.bat) ou Linux (.sh)</a:t>
            </a:r>
            <a:endParaRPr lang="fr-FR" sz="1000" noProof="0" dirty="0"/>
          </a:p>
        </p:txBody>
      </p:sp>
      <p:sp>
        <p:nvSpPr>
          <p:cNvPr id="77" name="Shape 75"/>
          <p:cNvSpPr/>
          <p:nvPr/>
        </p:nvSpPr>
        <p:spPr>
          <a:xfrm>
            <a:off x="6355080" y="4091733"/>
            <a:ext cx="73152" cy="73152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8" name="Text 76"/>
          <p:cNvSpPr/>
          <p:nvPr/>
        </p:nvSpPr>
        <p:spPr>
          <a:xfrm>
            <a:off x="6501384" y="399592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via TAC ou </a:t>
            </a:r>
            <a:r>
              <a:rPr lang="fr-FR" sz="100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</a:t>
            </a:r>
            <a:endParaRPr lang="fr-FR" sz="1000" noProof="0" dirty="0"/>
          </a:p>
        </p:txBody>
      </p:sp>
      <p:sp>
        <p:nvSpPr>
          <p:cNvPr id="79" name="Shape 77"/>
          <p:cNvSpPr/>
          <p:nvPr/>
        </p:nvSpPr>
        <p:spPr>
          <a:xfrm>
            <a:off x="6355080" y="4356909"/>
            <a:ext cx="73152" cy="73152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0" name="Text 78"/>
          <p:cNvSpPr/>
          <p:nvPr/>
        </p:nvSpPr>
        <p:spPr>
          <a:xfrm>
            <a:off x="6501384" y="4261104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des pipelines de données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8E7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320040" y="5486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0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fr-FR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1005840" y="128016"/>
            <a:ext cx="36576" cy="402336"/>
          </a:xfrm>
          <a:prstGeom prst="rect">
            <a:avLst/>
          </a:prstGeom>
          <a:solidFill>
            <a:srgbClr val="00C9B1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143000" y="5486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de Talend Open Studio</a:t>
            </a:r>
            <a:endParaRPr lang="fr-FR" sz="2000" noProof="0" dirty="0"/>
          </a:p>
        </p:txBody>
      </p:sp>
      <p:sp>
        <p:nvSpPr>
          <p:cNvPr id="7" name="Shape 5"/>
          <p:cNvSpPr/>
          <p:nvPr/>
        </p:nvSpPr>
        <p:spPr>
          <a:xfrm>
            <a:off x="1353312" y="768096"/>
            <a:ext cx="6537960" cy="393192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0" descr="/home/claude/talend_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713232"/>
            <a:ext cx="653796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98448" y="713232"/>
            <a:ext cx="6537960" cy="3931920"/>
          </a:xfrm>
          <a:prstGeom prst="rect">
            <a:avLst/>
          </a:prstGeom>
          <a:ln w="1524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298448" y="1263701"/>
            <a:ext cx="1438351" cy="1887322"/>
          </a:xfrm>
          <a:prstGeom prst="rect">
            <a:avLst/>
          </a:prstGeom>
          <a:solidFill>
            <a:srgbClr val="00C9B1">
              <a:alpha val="12000"/>
            </a:srgbClr>
          </a:solidFill>
          <a:ln w="190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8"/>
          <p:cNvSpPr/>
          <p:nvPr/>
        </p:nvSpPr>
        <p:spPr>
          <a:xfrm>
            <a:off x="1737360" y="1060704"/>
            <a:ext cx="310896" cy="310896"/>
          </a:xfrm>
          <a:prstGeom prst="ellipse">
            <a:avLst/>
          </a:prstGeom>
          <a:solidFill>
            <a:srgbClr val="00C9B1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1737360" y="1060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2736799" y="1263701"/>
            <a:ext cx="3988156" cy="1887322"/>
          </a:xfrm>
          <a:prstGeom prst="rect">
            <a:avLst/>
          </a:prstGeom>
          <a:solidFill>
            <a:srgbClr val="FFD166">
              <a:alpha val="12000"/>
            </a:srgbClr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4069080" y="1060704"/>
            <a:ext cx="310896" cy="3108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2"/>
          <p:cNvSpPr/>
          <p:nvPr/>
        </p:nvSpPr>
        <p:spPr>
          <a:xfrm>
            <a:off x="4069080" y="1060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200" noProof="0" dirty="0"/>
          </a:p>
        </p:txBody>
      </p:sp>
      <p:sp>
        <p:nvSpPr>
          <p:cNvPr id="16" name="Shape 13"/>
          <p:cNvSpPr/>
          <p:nvPr/>
        </p:nvSpPr>
        <p:spPr>
          <a:xfrm>
            <a:off x="6724955" y="1263701"/>
            <a:ext cx="1111453" cy="1887322"/>
          </a:xfrm>
          <a:prstGeom prst="rect">
            <a:avLst/>
          </a:prstGeom>
          <a:solidFill>
            <a:srgbClr val="1A73E8">
              <a:alpha val="12000"/>
            </a:srgbClr>
          </a:solidFill>
          <a:ln w="190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4"/>
          <p:cNvSpPr/>
          <p:nvPr/>
        </p:nvSpPr>
        <p:spPr>
          <a:xfrm>
            <a:off x="7086600" y="1060704"/>
            <a:ext cx="310896" cy="310896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5"/>
          <p:cNvSpPr/>
          <p:nvPr/>
        </p:nvSpPr>
        <p:spPr>
          <a:xfrm>
            <a:off x="7086600" y="1060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200" noProof="0" dirty="0"/>
          </a:p>
        </p:txBody>
      </p:sp>
      <p:sp>
        <p:nvSpPr>
          <p:cNvPr id="19" name="Shape 16"/>
          <p:cNvSpPr/>
          <p:nvPr/>
        </p:nvSpPr>
        <p:spPr>
          <a:xfrm>
            <a:off x="1298448" y="3151022"/>
            <a:ext cx="6537960" cy="1494130"/>
          </a:xfrm>
          <a:prstGeom prst="rect">
            <a:avLst/>
          </a:prstGeom>
          <a:solidFill>
            <a:srgbClr val="F4845F">
              <a:alpha val="12000"/>
            </a:srgbClr>
          </a:solidFill>
          <a:ln w="1905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7"/>
          <p:cNvSpPr/>
          <p:nvPr/>
        </p:nvSpPr>
        <p:spPr>
          <a:xfrm>
            <a:off x="4069080" y="3392424"/>
            <a:ext cx="310896" cy="310896"/>
          </a:xfrm>
          <a:prstGeom prst="ellipse">
            <a:avLst/>
          </a:prstGeom>
          <a:solidFill>
            <a:srgbClr val="F4845F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8"/>
          <p:cNvSpPr/>
          <p:nvPr/>
        </p:nvSpPr>
        <p:spPr>
          <a:xfrm>
            <a:off x="4069080" y="3392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200" noProof="0" dirty="0"/>
          </a:p>
        </p:txBody>
      </p:sp>
      <p:sp>
        <p:nvSpPr>
          <p:cNvPr id="24" name="Text 21"/>
          <p:cNvSpPr/>
          <p:nvPr/>
        </p:nvSpPr>
        <p:spPr>
          <a:xfrm>
            <a:off x="0" y="1173116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(Repository)</a:t>
            </a:r>
            <a:endParaRPr lang="fr-FR" sz="900" noProof="0" dirty="0"/>
          </a:p>
        </p:txBody>
      </p:sp>
      <p:sp>
        <p:nvSpPr>
          <p:cNvPr id="25" name="Text 22"/>
          <p:cNvSpPr/>
          <p:nvPr/>
        </p:nvSpPr>
        <p:spPr>
          <a:xfrm>
            <a:off x="-9670" y="1376523"/>
            <a:ext cx="1266901" cy="5523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7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: jobs, contextes, métadonnées, code et documentation du projet</a:t>
            </a:r>
            <a:endParaRPr lang="fr-FR" sz="750" noProof="0" dirty="0"/>
          </a:p>
        </p:txBody>
      </p:sp>
      <p:sp>
        <p:nvSpPr>
          <p:cNvPr id="28" name="Text 25"/>
          <p:cNvSpPr/>
          <p:nvPr/>
        </p:nvSpPr>
        <p:spPr>
          <a:xfrm>
            <a:off x="4379976" y="1327709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fr-FR" sz="900" noProof="0" dirty="0"/>
          </a:p>
        </p:txBody>
      </p:sp>
      <p:sp>
        <p:nvSpPr>
          <p:cNvPr id="29" name="Text 26"/>
          <p:cNvSpPr/>
          <p:nvPr/>
        </p:nvSpPr>
        <p:spPr>
          <a:xfrm>
            <a:off x="4121658" y="1547165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75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 des composants, connexion des flux et conception visuelle du job</a:t>
            </a:r>
            <a:endParaRPr lang="fr-FR" sz="75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7845552" y="1437437"/>
            <a:ext cx="11783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composants</a:t>
            </a:r>
            <a:endParaRPr lang="fr-FR" sz="900" noProof="0" dirty="0"/>
          </a:p>
        </p:txBody>
      </p:sp>
      <p:sp>
        <p:nvSpPr>
          <p:cNvPr id="33" name="Text 30"/>
          <p:cNvSpPr/>
          <p:nvPr/>
        </p:nvSpPr>
        <p:spPr>
          <a:xfrm>
            <a:off x="7845552" y="1656892"/>
            <a:ext cx="1207116" cy="669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7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+900 composants classés par catégorie : bases, fichiers, cloud, Big Data, APIs…</a:t>
            </a:r>
            <a:endParaRPr lang="fr-FR" sz="750" noProof="0" dirty="0"/>
          </a:p>
        </p:txBody>
      </p:sp>
      <p:sp>
        <p:nvSpPr>
          <p:cNvPr id="35" name="Text 32"/>
          <p:cNvSpPr/>
          <p:nvPr/>
        </p:nvSpPr>
        <p:spPr>
          <a:xfrm>
            <a:off x="6912864" y="47548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900" noProof="0" dirty="0"/>
          </a:p>
        </p:txBody>
      </p:sp>
      <p:sp>
        <p:nvSpPr>
          <p:cNvPr id="36" name="Text 33"/>
          <p:cNvSpPr/>
          <p:nvPr/>
        </p:nvSpPr>
        <p:spPr>
          <a:xfrm>
            <a:off x="2741837" y="4700653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de configuration</a:t>
            </a:r>
            <a:endParaRPr lang="fr-FR" sz="900" noProof="0" dirty="0"/>
          </a:p>
        </p:txBody>
      </p:sp>
      <p:sp>
        <p:nvSpPr>
          <p:cNvPr id="37" name="Text 34"/>
          <p:cNvSpPr/>
          <p:nvPr/>
        </p:nvSpPr>
        <p:spPr>
          <a:xfrm>
            <a:off x="2736799" y="4820717"/>
            <a:ext cx="344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7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Paramétrage du composant sélectionné : schéma, connexion, options avancées</a:t>
            </a:r>
            <a:endParaRPr lang="fr-FR" sz="7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fr-FR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1207008" y="164592"/>
            <a:ext cx="36576" cy="5943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54864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étapes de création d'un traitement ETL</a:t>
            </a:r>
            <a:endParaRPr lang="fr-FR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438912" y="969264"/>
            <a:ext cx="27432" cy="4059936"/>
          </a:xfrm>
          <a:prstGeom prst="rect">
            <a:avLst/>
          </a:prstGeom>
          <a:solidFill>
            <a:srgbClr val="CCE0E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4937760" y="969264"/>
            <a:ext cx="27432" cy="4059936"/>
          </a:xfrm>
          <a:prstGeom prst="rect">
            <a:avLst/>
          </a:prstGeom>
          <a:solidFill>
            <a:srgbClr val="CCE0E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228600" cy="27432"/>
          </a:xfrm>
          <a:prstGeom prst="rect">
            <a:avLst/>
          </a:prstGeom>
          <a:solidFill>
            <a:srgbClr val="00C9B1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310896" y="1152144"/>
            <a:ext cx="292608" cy="292608"/>
          </a:xfrm>
          <a:prstGeom prst="ellipse">
            <a:avLst/>
          </a:prstGeom>
          <a:solidFill>
            <a:srgbClr val="00C9B1"/>
          </a:solidFill>
          <a:ln w="12700">
            <a:solidFill>
              <a:srgbClr val="F0F6F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10896" y="1152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713232" y="969264"/>
            <a:ext cx="3749040" cy="131673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713232" y="969264"/>
            <a:ext cx="374904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1042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Analyse des besoins</a:t>
            </a:r>
            <a:endParaRPr lang="fr-F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822960" y="1335024"/>
            <a:ext cx="274320" cy="36576"/>
          </a:xfrm>
          <a:prstGeom prst="rect">
            <a:avLst/>
          </a:prstGeom>
          <a:solidFill>
            <a:srgbClr val="00C9B1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841248" y="1481328"/>
            <a:ext cx="64008" cy="64008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969264" y="138988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: validations, normes, enrichissements</a:t>
            </a:r>
            <a:endParaRPr lang="fr-FR" sz="950" noProof="0" dirty="0"/>
          </a:p>
        </p:txBody>
      </p:sp>
      <p:sp>
        <p:nvSpPr>
          <p:cNvPr id="17" name="Shape 15"/>
          <p:cNvSpPr/>
          <p:nvPr/>
        </p:nvSpPr>
        <p:spPr>
          <a:xfrm>
            <a:off x="841248" y="1682496"/>
            <a:ext cx="64008" cy="64008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969264" y="159105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: volume, performances, fréquence</a:t>
            </a:r>
            <a:endParaRPr lang="fr-FR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841248" y="1883664"/>
            <a:ext cx="64008" cy="64008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969264" y="1792224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sources et les cibles de la donnée</a:t>
            </a:r>
            <a:endParaRPr lang="fr-FR" sz="950" noProof="0" dirty="0"/>
          </a:p>
        </p:txBody>
      </p:sp>
      <p:sp>
        <p:nvSpPr>
          <p:cNvPr id="21" name="Shape 19"/>
          <p:cNvSpPr/>
          <p:nvPr/>
        </p:nvSpPr>
        <p:spPr>
          <a:xfrm>
            <a:off x="841248" y="2084832"/>
            <a:ext cx="64008" cy="64008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969264" y="1993392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: filtrage, agrégation, jointures</a:t>
            </a:r>
            <a:endParaRPr lang="fr-FR" sz="950" noProof="0" dirty="0"/>
          </a:p>
        </p:txBody>
      </p:sp>
      <p:sp>
        <p:nvSpPr>
          <p:cNvPr id="23" name="Shape 21"/>
          <p:cNvSpPr/>
          <p:nvPr/>
        </p:nvSpPr>
        <p:spPr>
          <a:xfrm>
            <a:off x="4956048" y="1261872"/>
            <a:ext cx="228600" cy="27432"/>
          </a:xfrm>
          <a:prstGeom prst="rect">
            <a:avLst/>
          </a:prstGeom>
          <a:solidFill>
            <a:srgbClr val="1A73E8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2"/>
          <p:cNvSpPr/>
          <p:nvPr/>
        </p:nvSpPr>
        <p:spPr>
          <a:xfrm>
            <a:off x="4809744" y="1152144"/>
            <a:ext cx="292608" cy="29260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F0F6F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3"/>
          <p:cNvSpPr/>
          <p:nvPr/>
        </p:nvSpPr>
        <p:spPr>
          <a:xfrm>
            <a:off x="4809744" y="1152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100" noProof="0" dirty="0"/>
          </a:p>
        </p:txBody>
      </p:sp>
      <p:sp>
        <p:nvSpPr>
          <p:cNvPr id="26" name="Shape 24"/>
          <p:cNvSpPr/>
          <p:nvPr/>
        </p:nvSpPr>
        <p:spPr>
          <a:xfrm>
            <a:off x="5212080" y="969264"/>
            <a:ext cx="3749040" cy="131673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5212080" y="969264"/>
            <a:ext cx="374904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5321808" y="1042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Conception du Job ETL</a:t>
            </a:r>
            <a:endParaRPr lang="fr-FR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5321808" y="1335024"/>
            <a:ext cx="274320" cy="36576"/>
          </a:xfrm>
          <a:prstGeom prst="rect">
            <a:avLst/>
          </a:prstGeom>
          <a:solidFill>
            <a:srgbClr val="1A73E8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5340096" y="1481328"/>
            <a:ext cx="64008" cy="64008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5468112" y="138988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composants nécessaires</a:t>
            </a:r>
            <a:endParaRPr lang="fr-FR" sz="950" noProof="0" dirty="0"/>
          </a:p>
        </p:txBody>
      </p:sp>
      <p:sp>
        <p:nvSpPr>
          <p:cNvPr id="32" name="Shape 30"/>
          <p:cNvSpPr/>
          <p:nvPr/>
        </p:nvSpPr>
        <p:spPr>
          <a:xfrm>
            <a:off x="5340096" y="1682496"/>
            <a:ext cx="64008" cy="64008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5468112" y="159105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des contextes (dev / recette / prod)</a:t>
            </a:r>
            <a:endParaRPr lang="fr-FR" sz="950" noProof="0" dirty="0"/>
          </a:p>
        </p:txBody>
      </p:sp>
      <p:sp>
        <p:nvSpPr>
          <p:cNvPr id="34" name="Shape 32"/>
          <p:cNvSpPr/>
          <p:nvPr/>
        </p:nvSpPr>
        <p:spPr>
          <a:xfrm>
            <a:off x="5340096" y="1883664"/>
            <a:ext cx="64008" cy="64008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5468112" y="1792224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métadonnées (connexions, schémas)</a:t>
            </a:r>
            <a:endParaRPr lang="fr-FR" sz="950" noProof="0" dirty="0"/>
          </a:p>
        </p:txBody>
      </p:sp>
      <p:sp>
        <p:nvSpPr>
          <p:cNvPr id="36" name="Shape 34"/>
          <p:cNvSpPr/>
          <p:nvPr/>
        </p:nvSpPr>
        <p:spPr>
          <a:xfrm>
            <a:off x="5340096" y="2084832"/>
            <a:ext cx="64008" cy="64008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35"/>
          <p:cNvSpPr/>
          <p:nvPr/>
        </p:nvSpPr>
        <p:spPr>
          <a:xfrm>
            <a:off x="5468112" y="1993392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 flux logique du traitement organisé</a:t>
            </a:r>
            <a:endParaRPr lang="fr-FR" sz="950" noProof="0" dirty="0"/>
          </a:p>
        </p:txBody>
      </p:sp>
      <p:sp>
        <p:nvSpPr>
          <p:cNvPr id="38" name="Shape 36"/>
          <p:cNvSpPr/>
          <p:nvPr/>
        </p:nvSpPr>
        <p:spPr>
          <a:xfrm>
            <a:off x="457200" y="2651760"/>
            <a:ext cx="228600" cy="27432"/>
          </a:xfrm>
          <a:prstGeom prst="rect">
            <a:avLst/>
          </a:prstGeom>
          <a:solidFill>
            <a:srgbClr val="FFD166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Shape 37"/>
          <p:cNvSpPr/>
          <p:nvPr/>
        </p:nvSpPr>
        <p:spPr>
          <a:xfrm>
            <a:off x="310896" y="2542032"/>
            <a:ext cx="292608" cy="2926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0F6F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8"/>
          <p:cNvSpPr/>
          <p:nvPr/>
        </p:nvSpPr>
        <p:spPr>
          <a:xfrm>
            <a:off x="310896" y="2542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100" noProof="0" dirty="0"/>
          </a:p>
        </p:txBody>
      </p:sp>
      <p:sp>
        <p:nvSpPr>
          <p:cNvPr id="41" name="Shape 39"/>
          <p:cNvSpPr/>
          <p:nvPr/>
        </p:nvSpPr>
        <p:spPr>
          <a:xfrm>
            <a:off x="713232" y="2359152"/>
            <a:ext cx="3749040" cy="131673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Shape 40"/>
          <p:cNvSpPr/>
          <p:nvPr/>
        </p:nvSpPr>
        <p:spPr>
          <a:xfrm>
            <a:off x="713232" y="2359152"/>
            <a:ext cx="374904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41"/>
          <p:cNvSpPr/>
          <p:nvPr/>
        </p:nvSpPr>
        <p:spPr>
          <a:xfrm>
            <a:off x="82296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Gestion des erreurs &amp; logs</a:t>
            </a:r>
            <a:endParaRPr lang="fr-FR" sz="1100" noProof="0" dirty="0"/>
          </a:p>
        </p:txBody>
      </p:sp>
      <p:sp>
        <p:nvSpPr>
          <p:cNvPr id="44" name="Shape 42"/>
          <p:cNvSpPr/>
          <p:nvPr/>
        </p:nvSpPr>
        <p:spPr>
          <a:xfrm>
            <a:off x="822960" y="2724912"/>
            <a:ext cx="274320" cy="36576"/>
          </a:xfrm>
          <a:prstGeom prst="rect">
            <a:avLst/>
          </a:prstGeom>
          <a:solidFill>
            <a:srgbClr val="FFD166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Shape 43"/>
          <p:cNvSpPr/>
          <p:nvPr/>
        </p:nvSpPr>
        <p:spPr>
          <a:xfrm>
            <a:off x="841248" y="2871216"/>
            <a:ext cx="64008" cy="6400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Text 44"/>
          <p:cNvSpPr/>
          <p:nvPr/>
        </p:nvSpPr>
        <p:spPr>
          <a:xfrm>
            <a:off x="969264" y="277977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 erreurs, statistiques et rejets</a:t>
            </a:r>
            <a:endParaRPr lang="fr-FR" sz="950" noProof="0" dirty="0"/>
          </a:p>
        </p:txBody>
      </p:sp>
      <p:sp>
        <p:nvSpPr>
          <p:cNvPr id="47" name="Shape 45"/>
          <p:cNvSpPr/>
          <p:nvPr/>
        </p:nvSpPr>
        <p:spPr>
          <a:xfrm>
            <a:off x="841248" y="3072384"/>
            <a:ext cx="64008" cy="6400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6"/>
          <p:cNvSpPr/>
          <p:nvPr/>
        </p:nvSpPr>
        <p:spPr>
          <a:xfrm>
            <a:off x="969264" y="2980944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logs dans un fichier ou une base</a:t>
            </a:r>
            <a:endParaRPr lang="fr-FR" sz="950" noProof="0" dirty="0"/>
          </a:p>
        </p:txBody>
      </p:sp>
      <p:sp>
        <p:nvSpPr>
          <p:cNvPr id="49" name="Shape 47"/>
          <p:cNvSpPr/>
          <p:nvPr/>
        </p:nvSpPr>
        <p:spPr>
          <a:xfrm>
            <a:off x="841248" y="3273552"/>
            <a:ext cx="64008" cy="6400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/>
          <p:cNvSpPr/>
          <p:nvPr/>
        </p:nvSpPr>
        <p:spPr>
          <a:xfrm>
            <a:off x="969264" y="3182112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alertes et notifications</a:t>
            </a:r>
            <a:endParaRPr lang="fr-FR" sz="950" noProof="0" dirty="0"/>
          </a:p>
        </p:txBody>
      </p:sp>
      <p:sp>
        <p:nvSpPr>
          <p:cNvPr id="51" name="Shape 49"/>
          <p:cNvSpPr/>
          <p:nvPr/>
        </p:nvSpPr>
        <p:spPr>
          <a:xfrm>
            <a:off x="841248" y="3474720"/>
            <a:ext cx="64008" cy="6400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/>
          <p:cNvSpPr/>
          <p:nvPr/>
        </p:nvSpPr>
        <p:spPr>
          <a:xfrm>
            <a:off x="969264" y="3383280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la qualité et la fiabilité du Job</a:t>
            </a:r>
            <a:endParaRPr lang="fr-FR" sz="950" noProof="0" dirty="0"/>
          </a:p>
        </p:txBody>
      </p:sp>
      <p:sp>
        <p:nvSpPr>
          <p:cNvPr id="53" name="Shape 51"/>
          <p:cNvSpPr/>
          <p:nvPr/>
        </p:nvSpPr>
        <p:spPr>
          <a:xfrm>
            <a:off x="4956048" y="2651760"/>
            <a:ext cx="228600" cy="27432"/>
          </a:xfrm>
          <a:prstGeom prst="rect">
            <a:avLst/>
          </a:prstGeom>
          <a:solidFill>
            <a:srgbClr val="06D6A0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Shape 52"/>
          <p:cNvSpPr/>
          <p:nvPr/>
        </p:nvSpPr>
        <p:spPr>
          <a:xfrm>
            <a:off x="4809744" y="2542032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F0F6F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Text 53"/>
          <p:cNvSpPr/>
          <p:nvPr/>
        </p:nvSpPr>
        <p:spPr>
          <a:xfrm>
            <a:off x="4809744" y="2542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100" noProof="0" dirty="0"/>
          </a:p>
        </p:txBody>
      </p:sp>
      <p:sp>
        <p:nvSpPr>
          <p:cNvPr id="56" name="Shape 54"/>
          <p:cNvSpPr/>
          <p:nvPr/>
        </p:nvSpPr>
        <p:spPr>
          <a:xfrm>
            <a:off x="5212080" y="2359152"/>
            <a:ext cx="3749040" cy="131673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7" name="Shape 55"/>
          <p:cNvSpPr/>
          <p:nvPr/>
        </p:nvSpPr>
        <p:spPr>
          <a:xfrm>
            <a:off x="5212080" y="2359152"/>
            <a:ext cx="374904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8" name="Text 56"/>
          <p:cNvSpPr/>
          <p:nvPr/>
        </p:nvSpPr>
        <p:spPr>
          <a:xfrm>
            <a:off x="5321808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Recette &amp; validation</a:t>
            </a:r>
            <a:endParaRPr lang="fr-FR" sz="1100" noProof="0" dirty="0"/>
          </a:p>
        </p:txBody>
      </p:sp>
      <p:sp>
        <p:nvSpPr>
          <p:cNvPr id="59" name="Shape 57"/>
          <p:cNvSpPr/>
          <p:nvPr/>
        </p:nvSpPr>
        <p:spPr>
          <a:xfrm>
            <a:off x="5321808" y="2724912"/>
            <a:ext cx="274320" cy="36576"/>
          </a:xfrm>
          <a:prstGeom prst="rect">
            <a:avLst/>
          </a:prstGeom>
          <a:solidFill>
            <a:srgbClr val="06D6A0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0" name="Shape 58"/>
          <p:cNvSpPr/>
          <p:nvPr/>
        </p:nvSpPr>
        <p:spPr>
          <a:xfrm>
            <a:off x="5340096" y="2871216"/>
            <a:ext cx="64008" cy="640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Text 59"/>
          <p:cNvSpPr/>
          <p:nvPr/>
        </p:nvSpPr>
        <p:spPr>
          <a:xfrm>
            <a:off x="5468112" y="277977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avec un jeu de données de recette</a:t>
            </a:r>
            <a:endParaRPr lang="fr-FR" sz="950" noProof="0" dirty="0"/>
          </a:p>
        </p:txBody>
      </p:sp>
      <p:sp>
        <p:nvSpPr>
          <p:cNvPr id="62" name="Shape 60"/>
          <p:cNvSpPr/>
          <p:nvPr/>
        </p:nvSpPr>
        <p:spPr>
          <a:xfrm>
            <a:off x="5340096" y="3072384"/>
            <a:ext cx="64008" cy="640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3" name="Text 61"/>
          <p:cNvSpPr/>
          <p:nvPr/>
        </p:nvSpPr>
        <p:spPr>
          <a:xfrm>
            <a:off x="5468112" y="2980944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performances (temps, volume)</a:t>
            </a:r>
            <a:endParaRPr lang="fr-FR" sz="950" noProof="0" dirty="0"/>
          </a:p>
        </p:txBody>
      </p:sp>
      <p:sp>
        <p:nvSpPr>
          <p:cNvPr id="64" name="Shape 62"/>
          <p:cNvSpPr/>
          <p:nvPr/>
        </p:nvSpPr>
        <p:spPr>
          <a:xfrm>
            <a:off x="5340096" y="3273552"/>
            <a:ext cx="64008" cy="640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5" name="Text 63"/>
          <p:cNvSpPr/>
          <p:nvPr/>
        </p:nvSpPr>
        <p:spPr>
          <a:xfrm>
            <a:off x="5468112" y="3182112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résultats et valider avec les équipes métier</a:t>
            </a:r>
            <a:endParaRPr lang="fr-FR" sz="950" noProof="0" dirty="0"/>
          </a:p>
        </p:txBody>
      </p:sp>
      <p:sp>
        <p:nvSpPr>
          <p:cNvPr id="66" name="Shape 64"/>
          <p:cNvSpPr/>
          <p:nvPr/>
        </p:nvSpPr>
        <p:spPr>
          <a:xfrm>
            <a:off x="5340096" y="3474720"/>
            <a:ext cx="64008" cy="640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7" name="Text 65"/>
          <p:cNvSpPr/>
          <p:nvPr/>
        </p:nvSpPr>
        <p:spPr>
          <a:xfrm>
            <a:off x="5468112" y="3383280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du traitement si nécessaire</a:t>
            </a:r>
            <a:endParaRPr lang="fr-FR" sz="950" noProof="0" dirty="0"/>
          </a:p>
        </p:txBody>
      </p:sp>
      <p:sp>
        <p:nvSpPr>
          <p:cNvPr id="68" name="Shape 66"/>
          <p:cNvSpPr/>
          <p:nvPr/>
        </p:nvSpPr>
        <p:spPr>
          <a:xfrm>
            <a:off x="457200" y="4041648"/>
            <a:ext cx="228600" cy="27432"/>
          </a:xfrm>
          <a:prstGeom prst="rect">
            <a:avLst/>
          </a:prstGeom>
          <a:solidFill>
            <a:srgbClr val="F4845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9" name="Shape 67"/>
          <p:cNvSpPr/>
          <p:nvPr/>
        </p:nvSpPr>
        <p:spPr>
          <a:xfrm>
            <a:off x="310896" y="3931920"/>
            <a:ext cx="292608" cy="292608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0F6F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0" name="Text 68"/>
          <p:cNvSpPr/>
          <p:nvPr/>
        </p:nvSpPr>
        <p:spPr>
          <a:xfrm>
            <a:off x="310896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100" noProof="0" dirty="0"/>
          </a:p>
        </p:txBody>
      </p:sp>
      <p:sp>
        <p:nvSpPr>
          <p:cNvPr id="71" name="Shape 69"/>
          <p:cNvSpPr/>
          <p:nvPr/>
        </p:nvSpPr>
        <p:spPr>
          <a:xfrm>
            <a:off x="713232" y="3749040"/>
            <a:ext cx="3749040" cy="131673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2" name="Shape 70"/>
          <p:cNvSpPr/>
          <p:nvPr/>
        </p:nvSpPr>
        <p:spPr>
          <a:xfrm>
            <a:off x="713232" y="3749040"/>
            <a:ext cx="3749040" cy="54864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3" name="Text 71"/>
          <p:cNvSpPr/>
          <p:nvPr/>
        </p:nvSpPr>
        <p:spPr>
          <a:xfrm>
            <a:off x="822960" y="3822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Build &amp; déploiement</a:t>
            </a:r>
            <a:endParaRPr lang="fr-FR" sz="1100" noProof="0" dirty="0"/>
          </a:p>
        </p:txBody>
      </p:sp>
      <p:sp>
        <p:nvSpPr>
          <p:cNvPr id="74" name="Shape 72"/>
          <p:cNvSpPr/>
          <p:nvPr/>
        </p:nvSpPr>
        <p:spPr>
          <a:xfrm>
            <a:off x="822960" y="4114800"/>
            <a:ext cx="274320" cy="36576"/>
          </a:xfrm>
          <a:prstGeom prst="rect">
            <a:avLst/>
          </a:prstGeom>
          <a:solidFill>
            <a:srgbClr val="F4845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5" name="Shape 73"/>
          <p:cNvSpPr/>
          <p:nvPr/>
        </p:nvSpPr>
        <p:spPr>
          <a:xfrm>
            <a:off x="841248" y="4261104"/>
            <a:ext cx="64008" cy="64008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Text 74"/>
          <p:cNvSpPr/>
          <p:nvPr/>
        </p:nvSpPr>
        <p:spPr>
          <a:xfrm>
            <a:off x="969264" y="4169664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le package exécutable (Build Job)</a:t>
            </a:r>
            <a:endParaRPr lang="fr-FR" sz="950" noProof="0" dirty="0"/>
          </a:p>
        </p:txBody>
      </p:sp>
      <p:sp>
        <p:nvSpPr>
          <p:cNvPr id="77" name="Shape 75"/>
          <p:cNvSpPr/>
          <p:nvPr/>
        </p:nvSpPr>
        <p:spPr>
          <a:xfrm>
            <a:off x="841248" y="4462272"/>
            <a:ext cx="64008" cy="64008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8" name="Text 76"/>
          <p:cNvSpPr/>
          <p:nvPr/>
        </p:nvSpPr>
        <p:spPr>
          <a:xfrm>
            <a:off x="969264" y="4370832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: Windows (.bat) ou Linux (.sh)</a:t>
            </a:r>
            <a:endParaRPr lang="fr-FR" sz="950" noProof="0" dirty="0"/>
          </a:p>
        </p:txBody>
      </p:sp>
      <p:sp>
        <p:nvSpPr>
          <p:cNvPr id="79" name="Shape 77"/>
          <p:cNvSpPr/>
          <p:nvPr/>
        </p:nvSpPr>
        <p:spPr>
          <a:xfrm>
            <a:off x="841248" y="4663440"/>
            <a:ext cx="64008" cy="64008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0" name="Text 78"/>
          <p:cNvSpPr/>
          <p:nvPr/>
        </p:nvSpPr>
        <p:spPr>
          <a:xfrm>
            <a:off x="969264" y="4572000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pour la mise en production</a:t>
            </a:r>
            <a:endParaRPr lang="fr-FR" sz="950" noProof="0" dirty="0"/>
          </a:p>
        </p:txBody>
      </p:sp>
      <p:sp>
        <p:nvSpPr>
          <p:cNvPr id="81" name="Shape 79"/>
          <p:cNvSpPr/>
          <p:nvPr/>
        </p:nvSpPr>
        <p:spPr>
          <a:xfrm>
            <a:off x="841248" y="4864608"/>
            <a:ext cx="64008" cy="64008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2" name="Text 80"/>
          <p:cNvSpPr/>
          <p:nvPr/>
        </p:nvSpPr>
        <p:spPr>
          <a:xfrm>
            <a:off x="969264" y="477316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des pipelines de données</a:t>
            </a:r>
            <a:endParaRPr lang="fr-FR" sz="950" noProof="0" dirty="0"/>
          </a:p>
        </p:txBody>
      </p:sp>
      <p:sp>
        <p:nvSpPr>
          <p:cNvPr id="83" name="Shape 81"/>
          <p:cNvSpPr/>
          <p:nvPr/>
        </p:nvSpPr>
        <p:spPr>
          <a:xfrm>
            <a:off x="4956048" y="4041648"/>
            <a:ext cx="228600" cy="27432"/>
          </a:xfrm>
          <a:prstGeom prst="rect">
            <a:avLst/>
          </a:prstGeom>
          <a:solidFill>
            <a:srgbClr val="9B72C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4" name="Shape 82"/>
          <p:cNvSpPr/>
          <p:nvPr/>
        </p:nvSpPr>
        <p:spPr>
          <a:xfrm>
            <a:off x="4809744" y="3931920"/>
            <a:ext cx="292608" cy="292608"/>
          </a:xfrm>
          <a:prstGeom prst="ellipse">
            <a:avLst/>
          </a:prstGeom>
          <a:solidFill>
            <a:srgbClr val="9B72CF"/>
          </a:solidFill>
          <a:ln w="12700">
            <a:solidFill>
              <a:srgbClr val="F0F6F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5" name="Text 83"/>
          <p:cNvSpPr/>
          <p:nvPr/>
        </p:nvSpPr>
        <p:spPr>
          <a:xfrm>
            <a:off x="4809744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fr-FR" sz="1100" noProof="0" dirty="0"/>
          </a:p>
        </p:txBody>
      </p:sp>
      <p:sp>
        <p:nvSpPr>
          <p:cNvPr id="86" name="Shape 84"/>
          <p:cNvSpPr/>
          <p:nvPr/>
        </p:nvSpPr>
        <p:spPr>
          <a:xfrm>
            <a:off x="5212080" y="3749040"/>
            <a:ext cx="3749040" cy="1316736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7" name="Shape 85"/>
          <p:cNvSpPr/>
          <p:nvPr/>
        </p:nvSpPr>
        <p:spPr>
          <a:xfrm>
            <a:off x="5212080" y="3749040"/>
            <a:ext cx="3749040" cy="54864"/>
          </a:xfrm>
          <a:prstGeom prst="rect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8" name="Text 86"/>
          <p:cNvSpPr/>
          <p:nvPr/>
        </p:nvSpPr>
        <p:spPr>
          <a:xfrm>
            <a:off x="5321808" y="3822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Monitoring &amp; maintenance</a:t>
            </a:r>
            <a:endParaRPr lang="fr-FR" sz="1100" noProof="0" dirty="0"/>
          </a:p>
        </p:txBody>
      </p:sp>
      <p:sp>
        <p:nvSpPr>
          <p:cNvPr id="89" name="Shape 87"/>
          <p:cNvSpPr/>
          <p:nvPr/>
        </p:nvSpPr>
        <p:spPr>
          <a:xfrm>
            <a:off x="5321808" y="4114800"/>
            <a:ext cx="274320" cy="36576"/>
          </a:xfrm>
          <a:prstGeom prst="rect">
            <a:avLst/>
          </a:prstGeom>
          <a:solidFill>
            <a:srgbClr val="9B72CF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0" name="Shape 88"/>
          <p:cNvSpPr/>
          <p:nvPr/>
        </p:nvSpPr>
        <p:spPr>
          <a:xfrm>
            <a:off x="5340096" y="4261104"/>
            <a:ext cx="64008" cy="64008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1" name="Text 89"/>
          <p:cNvSpPr/>
          <p:nvPr/>
        </p:nvSpPr>
        <p:spPr>
          <a:xfrm>
            <a:off x="5468112" y="4169664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les logs en production</a:t>
            </a:r>
            <a:endParaRPr lang="fr-FR" sz="950" noProof="0" dirty="0"/>
          </a:p>
        </p:txBody>
      </p:sp>
      <p:sp>
        <p:nvSpPr>
          <p:cNvPr id="92" name="Shape 90"/>
          <p:cNvSpPr/>
          <p:nvPr/>
        </p:nvSpPr>
        <p:spPr>
          <a:xfrm>
            <a:off x="5340096" y="4462272"/>
            <a:ext cx="64008" cy="64008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3" name="Text 91"/>
          <p:cNvSpPr/>
          <p:nvPr/>
        </p:nvSpPr>
        <p:spPr>
          <a:xfrm>
            <a:off x="5468112" y="4370832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performances régulièrement</a:t>
            </a:r>
            <a:endParaRPr lang="fr-FR" sz="950" noProof="0" dirty="0"/>
          </a:p>
        </p:txBody>
      </p:sp>
      <p:sp>
        <p:nvSpPr>
          <p:cNvPr id="94" name="Shape 92"/>
          <p:cNvSpPr/>
          <p:nvPr/>
        </p:nvSpPr>
        <p:spPr>
          <a:xfrm>
            <a:off x="5340096" y="4663440"/>
            <a:ext cx="64008" cy="64008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5" name="Text 93"/>
          <p:cNvSpPr/>
          <p:nvPr/>
        </p:nvSpPr>
        <p:spPr>
          <a:xfrm>
            <a:off x="5468112" y="4572000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si de nouvelles évolutions sont demandées</a:t>
            </a:r>
            <a:endParaRPr lang="fr-FR" sz="950" noProof="0" dirty="0"/>
          </a:p>
        </p:txBody>
      </p:sp>
      <p:sp>
        <p:nvSpPr>
          <p:cNvPr id="96" name="Shape 94"/>
          <p:cNvSpPr/>
          <p:nvPr/>
        </p:nvSpPr>
        <p:spPr>
          <a:xfrm>
            <a:off x="5340096" y="4864608"/>
            <a:ext cx="64008" cy="64008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7" name="Text 95"/>
          <p:cNvSpPr/>
          <p:nvPr/>
        </p:nvSpPr>
        <p:spPr>
          <a:xfrm>
            <a:off x="5468112" y="477316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 Job et ses transformations</a:t>
            </a:r>
            <a:endParaRPr lang="fr-FR" sz="9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D8E7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28600" y="36576"/>
            <a:ext cx="868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fr-FR" sz="3600" noProof="0" dirty="0"/>
          </a:p>
        </p:txBody>
      </p:sp>
      <p:sp>
        <p:nvSpPr>
          <p:cNvPr id="5" name="Shape 3"/>
          <p:cNvSpPr/>
          <p:nvPr/>
        </p:nvSpPr>
        <p:spPr>
          <a:xfrm>
            <a:off x="1115568" y="146304"/>
            <a:ext cx="36576" cy="548640"/>
          </a:xfrm>
          <a:prstGeom prst="rect">
            <a:avLst/>
          </a:prstGeom>
          <a:solidFill>
            <a:srgbClr val="06D6A0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1280160" y="36576"/>
            <a:ext cx="7589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bonnes pratiques</a:t>
            </a:r>
            <a:endParaRPr lang="fr-FR" sz="2400" noProof="0" dirty="0"/>
          </a:p>
        </p:txBody>
      </p:sp>
      <p:sp>
        <p:nvSpPr>
          <p:cNvPr id="7" name="Shape 5"/>
          <p:cNvSpPr/>
          <p:nvPr/>
        </p:nvSpPr>
        <p:spPr>
          <a:xfrm>
            <a:off x="182880" y="896112"/>
            <a:ext cx="2834640" cy="18470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182880" y="896112"/>
            <a:ext cx="283464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310896" y="987552"/>
            <a:ext cx="274320" cy="274320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10896" y="987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fr-F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658368" y="98755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Nommage clair &amp; organisation</a:t>
            </a:r>
            <a:endParaRPr lang="fr-F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310896" y="1298448"/>
            <a:ext cx="2578608" cy="27432"/>
          </a:xfrm>
          <a:prstGeom prst="rect">
            <a:avLst/>
          </a:prstGeom>
          <a:solidFill>
            <a:srgbClr val="00C9B1">
              <a:alpha val="2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329184" y="1417320"/>
            <a:ext cx="73152" cy="73152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75488" y="137160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jobs, composants et variables de manière explicite</a:t>
            </a:r>
            <a:endParaRPr lang="fr-FR" sz="950" noProof="0" dirty="0"/>
          </a:p>
        </p:txBody>
      </p:sp>
      <p:sp>
        <p:nvSpPr>
          <p:cNvPr id="15" name="Text 13"/>
          <p:cNvSpPr/>
          <p:nvPr/>
        </p:nvSpPr>
        <p:spPr>
          <a:xfrm>
            <a:off x="475488" y="157276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Load_Clients_CSV plutôt que Job1</a:t>
            </a:r>
            <a:endParaRPr lang="fr-FR" sz="850" noProof="0" dirty="0"/>
          </a:p>
        </p:txBody>
      </p:sp>
      <p:sp>
        <p:nvSpPr>
          <p:cNvPr id="16" name="Shape 14"/>
          <p:cNvSpPr/>
          <p:nvPr/>
        </p:nvSpPr>
        <p:spPr>
          <a:xfrm>
            <a:off x="329184" y="1801368"/>
            <a:ext cx="73152" cy="73152"/>
          </a:xfrm>
          <a:prstGeom prst="ellipse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47548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les jobs dans des dossiers logiques</a:t>
            </a:r>
            <a:endParaRPr lang="fr-FR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2322576"/>
            <a:ext cx="2651760" cy="365760"/>
          </a:xfrm>
          <a:prstGeom prst="rect">
            <a:avLst/>
          </a:prstGeom>
          <a:solidFill>
            <a:srgbClr val="00C9B1">
              <a:alpha val="1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2322576"/>
            <a:ext cx="54864" cy="365760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384048" y="2340864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Facilite la maintenance et la compréhension des pipelines par toute l'équipe</a:t>
            </a:r>
            <a:endParaRPr lang="fr-FR" sz="850" noProof="0" dirty="0"/>
          </a:p>
        </p:txBody>
      </p:sp>
      <p:sp>
        <p:nvSpPr>
          <p:cNvPr id="21" name="Shape 19"/>
          <p:cNvSpPr/>
          <p:nvPr/>
        </p:nvSpPr>
        <p:spPr>
          <a:xfrm>
            <a:off x="3154680" y="896112"/>
            <a:ext cx="2834640" cy="18470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3154680" y="896112"/>
            <a:ext cx="2834640" cy="54864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3282696" y="987552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3282696" y="987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fr-FR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3630168" y="98755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contextes</a:t>
            </a:r>
            <a:endParaRPr lang="fr-FR" sz="1050" noProof="0" dirty="0"/>
          </a:p>
        </p:txBody>
      </p:sp>
      <p:sp>
        <p:nvSpPr>
          <p:cNvPr id="26" name="Shape 24"/>
          <p:cNvSpPr/>
          <p:nvPr/>
        </p:nvSpPr>
        <p:spPr>
          <a:xfrm>
            <a:off x="3282696" y="1298448"/>
            <a:ext cx="2578608" cy="27432"/>
          </a:xfrm>
          <a:prstGeom prst="rect">
            <a:avLst/>
          </a:prstGeom>
          <a:solidFill>
            <a:srgbClr val="1A73E8">
              <a:alpha val="2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3300984" y="1417320"/>
            <a:ext cx="73152" cy="7315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3447288" y="137160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Paramétrer toutes les valeurs dynamiques via contextes</a:t>
            </a:r>
            <a:endParaRPr lang="fr-FR" sz="950" noProof="0" dirty="0"/>
          </a:p>
        </p:txBody>
      </p:sp>
      <p:sp>
        <p:nvSpPr>
          <p:cNvPr id="29" name="Text 27"/>
          <p:cNvSpPr/>
          <p:nvPr/>
        </p:nvSpPr>
        <p:spPr>
          <a:xfrm>
            <a:off x="3447288" y="157276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Chemins, DB, API keys…</a:t>
            </a:r>
            <a:endParaRPr lang="fr-FR" sz="850" noProof="0" dirty="0"/>
          </a:p>
        </p:txBody>
      </p:sp>
      <p:sp>
        <p:nvSpPr>
          <p:cNvPr id="30" name="Shape 28"/>
          <p:cNvSpPr/>
          <p:nvPr/>
        </p:nvSpPr>
        <p:spPr>
          <a:xfrm>
            <a:off x="3300984" y="1801368"/>
            <a:ext cx="73152" cy="73152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344728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un contexte par environnement (DEV / TEST / PROD)</a:t>
            </a:r>
            <a:endParaRPr lang="fr-FR" sz="950" noProof="0" dirty="0"/>
          </a:p>
        </p:txBody>
      </p:sp>
      <p:sp>
        <p:nvSpPr>
          <p:cNvPr id="32" name="Shape 30"/>
          <p:cNvSpPr/>
          <p:nvPr/>
        </p:nvSpPr>
        <p:spPr>
          <a:xfrm>
            <a:off x="3246120" y="2322576"/>
            <a:ext cx="2651760" cy="365760"/>
          </a:xfrm>
          <a:prstGeom prst="rect">
            <a:avLst/>
          </a:prstGeom>
          <a:solidFill>
            <a:srgbClr val="1A73E8">
              <a:alpha val="1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3246120" y="2322576"/>
            <a:ext cx="54864" cy="36576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/>
          <p:nvPr/>
        </p:nvSpPr>
        <p:spPr>
          <a:xfrm>
            <a:off x="3355848" y="2340864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Permet de réutiliser le même job sur différents environnements sans modification</a:t>
            </a:r>
            <a:endParaRPr lang="fr-FR" sz="850" noProof="0" dirty="0"/>
          </a:p>
        </p:txBody>
      </p:sp>
      <p:sp>
        <p:nvSpPr>
          <p:cNvPr id="35" name="Shape 33"/>
          <p:cNvSpPr/>
          <p:nvPr/>
        </p:nvSpPr>
        <p:spPr>
          <a:xfrm>
            <a:off x="6126480" y="896112"/>
            <a:ext cx="2834640" cy="18470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4"/>
          <p:cNvSpPr/>
          <p:nvPr/>
        </p:nvSpPr>
        <p:spPr>
          <a:xfrm>
            <a:off x="6126480" y="896112"/>
            <a:ext cx="283464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5"/>
          <p:cNvSpPr/>
          <p:nvPr/>
        </p:nvSpPr>
        <p:spPr>
          <a:xfrm>
            <a:off x="6254496" y="987552"/>
            <a:ext cx="274320" cy="2743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6254496" y="987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fr-FR" sz="1000" noProof="0" dirty="0"/>
          </a:p>
        </p:txBody>
      </p:sp>
      <p:sp>
        <p:nvSpPr>
          <p:cNvPr id="39" name="Text 37"/>
          <p:cNvSpPr/>
          <p:nvPr/>
        </p:nvSpPr>
        <p:spPr>
          <a:xfrm>
            <a:off x="6601968" y="98755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Modularité des jobs</a:t>
            </a:r>
            <a:endParaRPr lang="fr-FR" sz="1050" noProof="0" dirty="0"/>
          </a:p>
        </p:txBody>
      </p:sp>
      <p:sp>
        <p:nvSpPr>
          <p:cNvPr id="40" name="Shape 38"/>
          <p:cNvSpPr/>
          <p:nvPr/>
        </p:nvSpPr>
        <p:spPr>
          <a:xfrm>
            <a:off x="6254496" y="1298448"/>
            <a:ext cx="2578608" cy="27432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39"/>
          <p:cNvSpPr/>
          <p:nvPr/>
        </p:nvSpPr>
        <p:spPr>
          <a:xfrm>
            <a:off x="6272784" y="1417320"/>
            <a:ext cx="73152" cy="7315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40"/>
          <p:cNvSpPr/>
          <p:nvPr/>
        </p:nvSpPr>
        <p:spPr>
          <a:xfrm>
            <a:off x="6419088" y="137160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les jobs en sous-jobs ou routines réutilisables</a:t>
            </a:r>
            <a:endParaRPr lang="fr-FR" sz="950" noProof="0" dirty="0"/>
          </a:p>
        </p:txBody>
      </p:sp>
      <p:sp>
        <p:nvSpPr>
          <p:cNvPr id="43" name="Text 41"/>
          <p:cNvSpPr/>
          <p:nvPr/>
        </p:nvSpPr>
        <p:spPr>
          <a:xfrm>
            <a:off x="6419088" y="157276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 composants max par job</a:t>
            </a:r>
            <a:endParaRPr lang="fr-FR" sz="850" noProof="0" dirty="0"/>
          </a:p>
        </p:txBody>
      </p:sp>
      <p:sp>
        <p:nvSpPr>
          <p:cNvPr id="44" name="Shape 42"/>
          <p:cNvSpPr/>
          <p:nvPr/>
        </p:nvSpPr>
        <p:spPr>
          <a:xfrm>
            <a:off x="6272784" y="1801368"/>
            <a:ext cx="73152" cy="7315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641908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un seul gros job non maintenable</a:t>
            </a:r>
            <a:endParaRPr lang="fr-FR" sz="950" noProof="0" dirty="0"/>
          </a:p>
        </p:txBody>
      </p:sp>
      <p:sp>
        <p:nvSpPr>
          <p:cNvPr id="46" name="Shape 44"/>
          <p:cNvSpPr/>
          <p:nvPr/>
        </p:nvSpPr>
        <p:spPr>
          <a:xfrm>
            <a:off x="6217920" y="2322576"/>
            <a:ext cx="2651760" cy="365760"/>
          </a:xfrm>
          <a:prstGeom prst="rect">
            <a:avLst/>
          </a:prstGeom>
          <a:solidFill>
            <a:srgbClr val="FFD166">
              <a:alpha val="1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45"/>
          <p:cNvSpPr/>
          <p:nvPr/>
        </p:nvSpPr>
        <p:spPr>
          <a:xfrm>
            <a:off x="6217920" y="2322576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6"/>
          <p:cNvSpPr/>
          <p:nvPr/>
        </p:nvSpPr>
        <p:spPr>
          <a:xfrm>
            <a:off x="6327648" y="2340864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Simplifie les tests, la maintenance et la réutilisation des composants</a:t>
            </a:r>
            <a:endParaRPr lang="fr-FR" sz="850" noProof="0" dirty="0"/>
          </a:p>
        </p:txBody>
      </p:sp>
      <p:sp>
        <p:nvSpPr>
          <p:cNvPr id="49" name="Shape 47"/>
          <p:cNvSpPr/>
          <p:nvPr/>
        </p:nvSpPr>
        <p:spPr>
          <a:xfrm>
            <a:off x="1664208" y="2816352"/>
            <a:ext cx="2834640" cy="18470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Shape 48"/>
          <p:cNvSpPr/>
          <p:nvPr/>
        </p:nvSpPr>
        <p:spPr>
          <a:xfrm>
            <a:off x="1664208" y="2816352"/>
            <a:ext cx="2834640" cy="54864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Shape 49"/>
          <p:cNvSpPr/>
          <p:nvPr/>
        </p:nvSpPr>
        <p:spPr>
          <a:xfrm>
            <a:off x="1792224" y="2907792"/>
            <a:ext cx="274320" cy="274320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/>
          <p:cNvSpPr/>
          <p:nvPr/>
        </p:nvSpPr>
        <p:spPr>
          <a:xfrm>
            <a:off x="1792224" y="2907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fr-FR" sz="1000" noProof="0" dirty="0"/>
          </a:p>
        </p:txBody>
      </p:sp>
      <p:sp>
        <p:nvSpPr>
          <p:cNvPr id="53" name="Text 51"/>
          <p:cNvSpPr/>
          <p:nvPr/>
        </p:nvSpPr>
        <p:spPr>
          <a:xfrm>
            <a:off x="2139696" y="290779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&amp; rejets</a:t>
            </a:r>
            <a:endParaRPr lang="fr-FR" sz="1050" noProof="0" dirty="0"/>
          </a:p>
        </p:txBody>
      </p:sp>
      <p:sp>
        <p:nvSpPr>
          <p:cNvPr id="54" name="Shape 52"/>
          <p:cNvSpPr/>
          <p:nvPr/>
        </p:nvSpPr>
        <p:spPr>
          <a:xfrm>
            <a:off x="1792224" y="3218688"/>
            <a:ext cx="2578608" cy="27432"/>
          </a:xfrm>
          <a:prstGeom prst="rect">
            <a:avLst/>
          </a:prstGeom>
          <a:solidFill>
            <a:srgbClr val="F4845F">
              <a:alpha val="2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Shape 53"/>
          <p:cNvSpPr/>
          <p:nvPr/>
        </p:nvSpPr>
        <p:spPr>
          <a:xfrm>
            <a:off x="1810512" y="3337560"/>
            <a:ext cx="73152" cy="73152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6" name="Text 54"/>
          <p:cNvSpPr/>
          <p:nvPr/>
        </p:nvSpPr>
        <p:spPr>
          <a:xfrm>
            <a:off x="1956816" y="32918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flux de rejet pour capturer les anomalies</a:t>
            </a:r>
            <a:endParaRPr lang="fr-FR" sz="950" noProof="0" dirty="0"/>
          </a:p>
        </p:txBody>
      </p:sp>
      <p:sp>
        <p:nvSpPr>
          <p:cNvPr id="57" name="Text 55"/>
          <p:cNvSpPr/>
          <p:nvPr/>
        </p:nvSpPr>
        <p:spPr>
          <a:xfrm>
            <a:off x="1956816" y="349300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tLogRow, tDie, tWarn…</a:t>
            </a:r>
            <a:endParaRPr lang="fr-FR" sz="850" noProof="0" dirty="0"/>
          </a:p>
        </p:txBody>
      </p:sp>
      <p:sp>
        <p:nvSpPr>
          <p:cNvPr id="58" name="Shape 56"/>
          <p:cNvSpPr/>
          <p:nvPr/>
        </p:nvSpPr>
        <p:spPr>
          <a:xfrm>
            <a:off x="1810512" y="3737283"/>
            <a:ext cx="73152" cy="73152"/>
          </a:xfrm>
          <a:prstGeom prst="ellipse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9" name="Text 57"/>
          <p:cNvSpPr/>
          <p:nvPr/>
        </p:nvSpPr>
        <p:spPr>
          <a:xfrm>
            <a:off x="1956816" y="3702013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les erreurs dans un fichier ou une table dédiée</a:t>
            </a:r>
            <a:endParaRPr lang="fr-FR" sz="950" noProof="0" dirty="0"/>
          </a:p>
        </p:txBody>
      </p:sp>
      <p:sp>
        <p:nvSpPr>
          <p:cNvPr id="60" name="Shape 58"/>
          <p:cNvSpPr/>
          <p:nvPr/>
        </p:nvSpPr>
        <p:spPr>
          <a:xfrm>
            <a:off x="1755648" y="4242816"/>
            <a:ext cx="2651760" cy="365760"/>
          </a:xfrm>
          <a:prstGeom prst="rect">
            <a:avLst/>
          </a:prstGeom>
          <a:solidFill>
            <a:srgbClr val="F4845F">
              <a:alpha val="1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Shape 59"/>
          <p:cNvSpPr/>
          <p:nvPr/>
        </p:nvSpPr>
        <p:spPr>
          <a:xfrm>
            <a:off x="1755648" y="4242816"/>
            <a:ext cx="54864" cy="365760"/>
          </a:xfrm>
          <a:prstGeom prst="rect">
            <a:avLst/>
          </a:prstGeom>
          <a:solidFill>
            <a:srgbClr val="F4845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2" name="Text 60"/>
          <p:cNvSpPr/>
          <p:nvPr/>
        </p:nvSpPr>
        <p:spPr>
          <a:xfrm>
            <a:off x="1865376" y="4261104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Permet d'identifier rapidement les problèmes et d'améliorer la fiabilité</a:t>
            </a:r>
            <a:endParaRPr lang="fr-FR" sz="850" noProof="0" dirty="0"/>
          </a:p>
        </p:txBody>
      </p:sp>
      <p:sp>
        <p:nvSpPr>
          <p:cNvPr id="63" name="Shape 61"/>
          <p:cNvSpPr/>
          <p:nvPr/>
        </p:nvSpPr>
        <p:spPr>
          <a:xfrm>
            <a:off x="4645152" y="2816352"/>
            <a:ext cx="2834640" cy="184708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Shape 62"/>
          <p:cNvSpPr/>
          <p:nvPr/>
        </p:nvSpPr>
        <p:spPr>
          <a:xfrm>
            <a:off x="4645152" y="2816352"/>
            <a:ext cx="2834640" cy="54864"/>
          </a:xfrm>
          <a:prstGeom prst="rect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5" name="Shape 63"/>
          <p:cNvSpPr/>
          <p:nvPr/>
        </p:nvSpPr>
        <p:spPr>
          <a:xfrm>
            <a:off x="4773168" y="2907792"/>
            <a:ext cx="274320" cy="274320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6" name="Text 64"/>
          <p:cNvSpPr/>
          <p:nvPr/>
        </p:nvSpPr>
        <p:spPr>
          <a:xfrm>
            <a:off x="4773168" y="2907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fr-FR" sz="1000" noProof="0" dirty="0"/>
          </a:p>
        </p:txBody>
      </p:sp>
      <p:sp>
        <p:nvSpPr>
          <p:cNvPr id="67" name="Text 65"/>
          <p:cNvSpPr/>
          <p:nvPr/>
        </p:nvSpPr>
        <p:spPr>
          <a:xfrm>
            <a:off x="5120640" y="290779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annotations</a:t>
            </a:r>
            <a:endParaRPr lang="fr-FR" sz="1050" noProof="0" dirty="0"/>
          </a:p>
        </p:txBody>
      </p:sp>
      <p:sp>
        <p:nvSpPr>
          <p:cNvPr id="68" name="Shape 66"/>
          <p:cNvSpPr/>
          <p:nvPr/>
        </p:nvSpPr>
        <p:spPr>
          <a:xfrm>
            <a:off x="4773168" y="3218688"/>
            <a:ext cx="2578608" cy="27432"/>
          </a:xfrm>
          <a:prstGeom prst="rect">
            <a:avLst/>
          </a:prstGeom>
          <a:solidFill>
            <a:srgbClr val="9B72CF">
              <a:alpha val="2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9" name="Shape 67"/>
          <p:cNvSpPr/>
          <p:nvPr/>
        </p:nvSpPr>
        <p:spPr>
          <a:xfrm>
            <a:off x="4791456" y="3337560"/>
            <a:ext cx="73152" cy="73152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0" name="Text 68"/>
          <p:cNvSpPr/>
          <p:nvPr/>
        </p:nvSpPr>
        <p:spPr>
          <a:xfrm>
            <a:off x="4937760" y="32918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les transformations et flux directement dans le Job</a:t>
            </a:r>
            <a:endParaRPr lang="fr-FR" sz="950" noProof="0" dirty="0"/>
          </a:p>
        </p:txBody>
      </p:sp>
      <p:sp>
        <p:nvSpPr>
          <p:cNvPr id="71" name="Shape 69"/>
          <p:cNvSpPr/>
          <p:nvPr/>
        </p:nvSpPr>
        <p:spPr>
          <a:xfrm>
            <a:off x="4791456" y="3629708"/>
            <a:ext cx="73152" cy="73152"/>
          </a:xfrm>
          <a:prstGeom prst="ellipse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2" name="Text 70"/>
          <p:cNvSpPr/>
          <p:nvPr/>
        </p:nvSpPr>
        <p:spPr>
          <a:xfrm>
            <a:off x="4937760" y="3615839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commentaires pour les règles métier importantes</a:t>
            </a:r>
            <a:endParaRPr lang="fr-FR" sz="950" noProof="0" dirty="0"/>
          </a:p>
        </p:txBody>
      </p:sp>
      <p:sp>
        <p:nvSpPr>
          <p:cNvPr id="73" name="Shape 71"/>
          <p:cNvSpPr/>
          <p:nvPr/>
        </p:nvSpPr>
        <p:spPr>
          <a:xfrm>
            <a:off x="4736592" y="4242816"/>
            <a:ext cx="2651760" cy="365760"/>
          </a:xfrm>
          <a:prstGeom prst="rect">
            <a:avLst/>
          </a:prstGeom>
          <a:solidFill>
            <a:srgbClr val="9B72CF">
              <a:alpha val="1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4" name="Shape 72"/>
          <p:cNvSpPr/>
          <p:nvPr/>
        </p:nvSpPr>
        <p:spPr>
          <a:xfrm>
            <a:off x="4736592" y="4242816"/>
            <a:ext cx="54864" cy="365760"/>
          </a:xfrm>
          <a:prstGeom prst="rect">
            <a:avLst/>
          </a:prstGeom>
          <a:solidFill>
            <a:srgbClr val="9B72C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5" name="Text 73"/>
          <p:cNvSpPr/>
          <p:nvPr/>
        </p:nvSpPr>
        <p:spPr>
          <a:xfrm>
            <a:off x="4846320" y="4261104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50" i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Facilite la compréhension des Jobs par les nouveaux membres et pour la gouvernance</a:t>
            </a:r>
            <a:endParaRPr lang="fr-FR" sz="8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8E7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228600" y="54864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0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fr-FR" sz="4000" noProof="0" dirty="0"/>
          </a:p>
        </p:txBody>
      </p:sp>
      <p:sp>
        <p:nvSpPr>
          <p:cNvPr id="6" name="Shape 4"/>
          <p:cNvSpPr/>
          <p:nvPr/>
        </p:nvSpPr>
        <p:spPr>
          <a:xfrm>
            <a:off x="1115568" y="164592"/>
            <a:ext cx="36576" cy="594360"/>
          </a:xfrm>
          <a:prstGeom prst="rect">
            <a:avLst/>
          </a:prstGeom>
          <a:solidFill>
            <a:srgbClr val="00C9B1">
              <a:alpha val="5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1280160" y="548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fr-FR" sz="2800" noProof="0" dirty="0"/>
          </a:p>
        </p:txBody>
      </p:sp>
      <p:sp>
        <p:nvSpPr>
          <p:cNvPr id="8" name="Shape 6"/>
          <p:cNvSpPr/>
          <p:nvPr/>
        </p:nvSpPr>
        <p:spPr>
          <a:xfrm>
            <a:off x="502920" y="1005840"/>
            <a:ext cx="8138160" cy="621792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64008" cy="621792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713232" y="1060704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50" i="1" noProof="0" dirty="0">
                <a:solidFill>
                  <a:srgbClr val="2C6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est bien plus qu'un outil ETL : c'est une plateforme complète qui couvre l'ensemble du cycle de vie de la donnée — de l'ingestion à la gouvernance, en passant par la qualité et l'automatisation.</a:t>
            </a:r>
            <a:endParaRPr lang="fr-FR" sz="1150" noProof="0" dirty="0"/>
          </a:p>
        </p:txBody>
      </p:sp>
      <p:sp>
        <p:nvSpPr>
          <p:cNvPr id="11" name="Text 9"/>
          <p:cNvSpPr/>
          <p:nvPr/>
        </p:nvSpPr>
        <p:spPr>
          <a:xfrm>
            <a:off x="502920" y="17556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 vous permet de :</a:t>
            </a:r>
            <a:endParaRPr lang="fr-F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219456" y="2157984"/>
            <a:ext cx="2761488" cy="248716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219456" y="2157984"/>
            <a:ext cx="2761488" cy="64008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1252728" y="2286000"/>
            <a:ext cx="694944" cy="694944"/>
          </a:xfrm>
          <a:prstGeom prst="ellipse">
            <a:avLst/>
          </a:prstGeom>
          <a:solidFill>
            <a:srgbClr val="00C9B1">
              <a:alpha val="18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1252728" y="22860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fr-FR" sz="2400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3072384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5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plusieurs sources</a:t>
            </a:r>
            <a:endParaRPr lang="fr-FR" sz="1250" noProof="0" dirty="0"/>
          </a:p>
        </p:txBody>
      </p:sp>
      <p:sp>
        <p:nvSpPr>
          <p:cNvPr id="17" name="Shape 15"/>
          <p:cNvSpPr/>
          <p:nvPr/>
        </p:nvSpPr>
        <p:spPr>
          <a:xfrm>
            <a:off x="1399032" y="3511296"/>
            <a:ext cx="402336" cy="36576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365760" y="3602736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Connectez bases SQL/NoSQL, fichiers plats, APIs REST/SOAP, flux cloud et applications SaaS en un pipeline unifié, sans développement Java manuel.</a:t>
            </a:r>
            <a:endParaRPr lang="fr-FR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941832" y="4334256"/>
            <a:ext cx="1316736" cy="237744"/>
          </a:xfrm>
          <a:prstGeom prst="rect">
            <a:avLst/>
          </a:prstGeom>
          <a:solidFill>
            <a:srgbClr val="00C9B1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941832" y="4334256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+900 connecteurs</a:t>
            </a:r>
            <a:endParaRPr lang="fr-FR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3127248" y="2157984"/>
            <a:ext cx="2761488" cy="248716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20"/>
          <p:cNvSpPr/>
          <p:nvPr/>
        </p:nvSpPr>
        <p:spPr>
          <a:xfrm>
            <a:off x="3127248" y="2157984"/>
            <a:ext cx="2761488" cy="6400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4160520" y="2286000"/>
            <a:ext cx="694944" cy="694944"/>
          </a:xfrm>
          <a:prstGeom prst="ellipse">
            <a:avLst/>
          </a:prstGeom>
          <a:solidFill>
            <a:srgbClr val="1A73E8">
              <a:alpha val="18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160520" y="22860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fr-FR" sz="2400" noProof="0" dirty="0"/>
          </a:p>
        </p:txBody>
      </p:sp>
      <p:sp>
        <p:nvSpPr>
          <p:cNvPr id="25" name="Text 23"/>
          <p:cNvSpPr/>
          <p:nvPr/>
        </p:nvSpPr>
        <p:spPr>
          <a:xfrm>
            <a:off x="3273552" y="3072384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5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les données efficacement</a:t>
            </a:r>
            <a:endParaRPr lang="fr-FR" sz="1250" noProof="0" dirty="0"/>
          </a:p>
        </p:txBody>
      </p:sp>
      <p:sp>
        <p:nvSpPr>
          <p:cNvPr id="26" name="Shape 24"/>
          <p:cNvSpPr/>
          <p:nvPr/>
        </p:nvSpPr>
        <p:spPr>
          <a:xfrm>
            <a:off x="4306824" y="3511296"/>
            <a:ext cx="402336" cy="3657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3273552" y="3602736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Nettoyez, enrichissez, joignez et agrégez vos données grâce au composant tMap et aux +900 transformations natives, avec un débogage visuel pas à pas.</a:t>
            </a:r>
            <a:endParaRPr lang="fr-FR" sz="950" noProof="0" dirty="0"/>
          </a:p>
        </p:txBody>
      </p:sp>
      <p:sp>
        <p:nvSpPr>
          <p:cNvPr id="28" name="Shape 26"/>
          <p:cNvSpPr/>
          <p:nvPr/>
        </p:nvSpPr>
        <p:spPr>
          <a:xfrm>
            <a:off x="3849624" y="4334256"/>
            <a:ext cx="1316736" cy="237744"/>
          </a:xfrm>
          <a:prstGeom prst="rect">
            <a:avLst/>
          </a:prstGeom>
          <a:solidFill>
            <a:srgbClr val="1A73E8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3849624" y="4334256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fiabilité</a:t>
            </a:r>
            <a:endParaRPr lang="fr-F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6035040" y="2157984"/>
            <a:ext cx="2761488" cy="2487168"/>
          </a:xfrm>
          <a:prstGeom prst="rect">
            <a:avLst/>
          </a:prstGeom>
          <a:solidFill>
            <a:srgbClr val="E4EDF6"/>
          </a:solidFill>
          <a:ln/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9"/>
          <p:cNvSpPr/>
          <p:nvPr/>
        </p:nvSpPr>
        <p:spPr>
          <a:xfrm>
            <a:off x="6035040" y="2157984"/>
            <a:ext cx="2761488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7068312" y="2286000"/>
            <a:ext cx="694944" cy="694944"/>
          </a:xfrm>
          <a:prstGeom prst="ellipse">
            <a:avLst/>
          </a:prstGeom>
          <a:solidFill>
            <a:srgbClr val="06D6A0">
              <a:alpha val="18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7068312" y="22860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noProof="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fr-FR" sz="2400" noProof="0" dirty="0"/>
          </a:p>
        </p:txBody>
      </p:sp>
      <p:sp>
        <p:nvSpPr>
          <p:cNvPr id="34" name="Text 32"/>
          <p:cNvSpPr/>
          <p:nvPr/>
        </p:nvSpPr>
        <p:spPr>
          <a:xfrm>
            <a:off x="6181344" y="3072384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50" b="1" noProof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flux de données</a:t>
            </a:r>
            <a:endParaRPr lang="fr-FR" sz="1250" noProof="0" dirty="0"/>
          </a:p>
        </p:txBody>
      </p:sp>
      <p:sp>
        <p:nvSpPr>
          <p:cNvPr id="35" name="Shape 33"/>
          <p:cNvSpPr/>
          <p:nvPr/>
        </p:nvSpPr>
        <p:spPr>
          <a:xfrm>
            <a:off x="7214616" y="3511296"/>
            <a:ext cx="402336" cy="36576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6181344" y="3602736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Générez des packages exécutables, planifiez vos jobs via TAC ou </a:t>
            </a:r>
            <a:r>
              <a:rPr lang="fr-FR" sz="95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fr-FR" sz="950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ron, orchestrez des pipelines complexes et supervisez chaque exécution en temps réel.</a:t>
            </a:r>
            <a:endParaRPr lang="fr-FR" sz="950" noProof="0" dirty="0"/>
          </a:p>
        </p:txBody>
      </p:sp>
      <p:sp>
        <p:nvSpPr>
          <p:cNvPr id="37" name="Shape 35"/>
          <p:cNvSpPr/>
          <p:nvPr/>
        </p:nvSpPr>
        <p:spPr>
          <a:xfrm>
            <a:off x="6757416" y="4334256"/>
            <a:ext cx="1316736" cy="237744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6757416" y="4334256"/>
            <a:ext cx="13167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industrialisé</a:t>
            </a:r>
            <a:endParaRPr lang="fr-FR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D8E7F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6576"/>
          </a:xfrm>
          <a:prstGeom prst="rect">
            <a:avLst/>
          </a:prstGeom>
          <a:solidFill>
            <a:srgbClr val="00C9B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950" i="1" noProof="0" dirty="0">
                <a:solidFill>
                  <a:srgbClr val="3A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Talend</a:t>
            </a:r>
            <a:endParaRPr lang="fr-FR" sz="9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1428</Words>
  <Application>Microsoft Office PowerPoint</Application>
  <PresentationFormat>Affichage à l'écran (16:9)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 Emoji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Talend</dc:title>
  <dc:subject>PptxGenJS Presentation</dc:subject>
  <dc:creator>PptxGenJS</dc:creator>
  <cp:lastModifiedBy>Soufiane Anwar</cp:lastModifiedBy>
  <cp:revision>4</cp:revision>
  <dcterms:created xsi:type="dcterms:W3CDTF">2026-03-24T08:02:18Z</dcterms:created>
  <dcterms:modified xsi:type="dcterms:W3CDTF">2026-03-25T10:12:11Z</dcterms:modified>
</cp:coreProperties>
</file>